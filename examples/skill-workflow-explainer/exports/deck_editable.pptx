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50816"/>
              </a:gs>
              <a:gs pos="55000">
                <a:srgbClr val="0B1024"/>
              </a:gs>
              <a:gs pos="100000">
                <a:srgbClr val="080A12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62000" y="685800"/>
            <a:ext cx="10668000" cy="5600700"/>
            <a:chOff x="762000" y="685800"/>
            <a:chExt cx="10668000" cy="5600700"/>
          </a:xfrm>
        </p:grpSpPr>
        <p:sp>
          <p:nvSpPr>
            <p:cNvPr id="3" name="Freeform 3"/>
            <p:cNvSpPr/>
            <p:nvPr/>
          </p:nvSpPr>
          <p:spPr>
            <a:xfrm>
              <a:off x="762000" y="1143000"/>
              <a:ext cx="10668000" cy="4953000"/>
            </a:xfrm>
            <a:custGeom>
              <a:avLst/>
              <a:gdLst/>
              <a:ahLst/>
              <a:cxnLst/>
              <a:rect l="l" t="t" r="r" b="b"/>
              <a:pathLst>
                <a:path w="10668000" h="4953000">
                  <a:moveTo>
                    <a:pt x="0" y="0"/>
                  </a:moveTo>
                  <a:lnTo>
                    <a:pt x="10668000" y="0"/>
                  </a:lnTo>
                  <a:moveTo>
                    <a:pt x="0" y="1238250"/>
                  </a:moveTo>
                  <a:lnTo>
                    <a:pt x="10668000" y="1238250"/>
                  </a:lnTo>
                  <a:moveTo>
                    <a:pt x="0" y="2476500"/>
                  </a:moveTo>
                  <a:lnTo>
                    <a:pt x="10668000" y="2476500"/>
                  </a:lnTo>
                  <a:moveTo>
                    <a:pt x="0" y="3714750"/>
                  </a:moveTo>
                  <a:lnTo>
                    <a:pt x="10668000" y="3714750"/>
                  </a:lnTo>
                  <a:moveTo>
                    <a:pt x="0" y="4953000"/>
                  </a:moveTo>
                  <a:lnTo>
                    <a:pt x="10668000" y="4953000"/>
                  </a:lnTo>
                </a:path>
              </a:pathLst>
            </a:custGeom>
            <a:solidFill>
              <a:srgbClr val="000000">
                <a:alpha val="32000"/>
              </a:srgbClr>
            </a:solidFill>
            <a:ln w="9525">
              <a:solidFill>
                <a:srgbClr val="17314E">
                  <a:alpha val="32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714500" y="685800"/>
              <a:ext cx="8572500" cy="5600700"/>
            </a:xfrm>
            <a:custGeom>
              <a:avLst/>
              <a:gdLst/>
              <a:ahLst/>
              <a:cxnLst/>
              <a:rect l="l" t="t" r="r" b="b"/>
              <a:pathLst>
                <a:path w="8572500" h="5600700">
                  <a:moveTo>
                    <a:pt x="0" y="0"/>
                  </a:moveTo>
                  <a:lnTo>
                    <a:pt x="0" y="5600700"/>
                  </a:lnTo>
                  <a:moveTo>
                    <a:pt x="1714500" y="0"/>
                  </a:moveTo>
                  <a:lnTo>
                    <a:pt x="1714500" y="5600700"/>
                  </a:lnTo>
                  <a:moveTo>
                    <a:pt x="3429000" y="0"/>
                  </a:moveTo>
                  <a:lnTo>
                    <a:pt x="3429000" y="5600700"/>
                  </a:lnTo>
                  <a:moveTo>
                    <a:pt x="5143500" y="0"/>
                  </a:moveTo>
                  <a:lnTo>
                    <a:pt x="5143500" y="5600700"/>
                  </a:lnTo>
                  <a:moveTo>
                    <a:pt x="6858000" y="0"/>
                  </a:moveTo>
                  <a:lnTo>
                    <a:pt x="6858000" y="5600700"/>
                  </a:lnTo>
                  <a:moveTo>
                    <a:pt x="8572500" y="0"/>
                  </a:moveTo>
                  <a:lnTo>
                    <a:pt x="8572500" y="5600700"/>
                  </a:lnTo>
                </a:path>
              </a:pathLst>
            </a:custGeom>
            <a:solidFill>
              <a:srgbClr val="000000">
                <a:alpha val="32000"/>
              </a:srgbClr>
            </a:solidFill>
            <a:ln w="9525">
              <a:solidFill>
                <a:srgbClr val="11243B">
                  <a:alpha val="32000"/>
                </a:srgbClr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30555" y="649605"/>
            <a:ext cx="6825663" cy="1684020"/>
            <a:chOff x="630555" y="649605"/>
            <a:chExt cx="6825663" cy="1684020"/>
          </a:xfrm>
        </p:grpSpPr>
        <p:sp>
          <p:nvSpPr>
            <p:cNvPr id="6" name="TextBox 6"/>
            <p:cNvSpPr txBox="1"/>
            <p:nvPr/>
          </p:nvSpPr>
          <p:spPr>
            <a:xfrm>
              <a:off x="659130" y="649605"/>
              <a:ext cx="247914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FF4E8"/>
                  </a:solidFill>
                  <a:latin typeface="Noto Sans CJK SC"/>
                  <a:ea typeface="Microsoft YaHei"/>
                  <a:cs typeface="Noto Sans CJK SC"/>
                </a:rPr>
                <a:t>CODEX SKILL DECK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0555" y="1054418"/>
              <a:ext cx="5135368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codex-bento-ppt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7225" y="1795462"/>
              <a:ext cx="67989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4D8EE"/>
                  </a:solidFill>
                  <a:latin typeface="Noto Sans CJK SC"/>
                  <a:ea typeface="Microsoft YaHei"/>
                  <a:cs typeface="Noto Sans CJK SC"/>
                </a:rPr>
                <a:t>从原始材料到可编辑 PPTX 的 Bento Grid 工作流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85800" y="23241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47625">
              <a:solidFill>
                <a:srgbClr val="22D3EE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85800" y="2990850"/>
            <a:ext cx="10820400" cy="1409700"/>
            <a:chOff x="685800" y="2990850"/>
            <a:chExt cx="10820400" cy="1409700"/>
          </a:xfrm>
        </p:grpSpPr>
        <p:grpSp>
          <p:nvGrpSpPr>
            <p:cNvPr id="14" name="Group 14"/>
            <p:cNvGrpSpPr/>
            <p:nvPr/>
          </p:nvGrpSpPr>
          <p:grpSpPr>
            <a:xfrm>
              <a:off x="685800" y="2990850"/>
              <a:ext cx="3143250" cy="1409700"/>
              <a:chOff x="685800" y="2990850"/>
              <a:chExt cx="3143250" cy="14097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685800" y="2990850"/>
                <a:ext cx="3143250" cy="1409700"/>
              </a:xfrm>
              <a:prstGeom prst="roundRect">
                <a:avLst>
                  <a:gd name="adj" fmla="val 16216"/>
                </a:avLst>
              </a:prstGeom>
              <a:gradFill>
                <a:gsLst>
                  <a:gs pos="0">
                    <a:srgbClr val="101D33">
                      <a:alpha val="96000"/>
                    </a:srgbClr>
                  </a:gs>
                  <a:gs pos="100000">
                    <a:srgbClr val="07111F">
                      <a:alpha val="96000"/>
                    </a:srgbClr>
                  </a:gs>
                </a:gsLst>
                <a:lin ang="2700000" scaled="1"/>
              </a:gradFill>
              <a:ln w="19050">
                <a:solidFill>
                  <a:srgbClr val="22D3EE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63930" y="3259455"/>
                <a:ext cx="208219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Content-first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73455" y="3759518"/>
                <a:ext cx="21945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FB4C8"/>
                    </a:solidFill>
                    <a:latin typeface="Noto Sans CJK SC"/>
                    <a:ea typeface="Microsoft YaHei"/>
                    <a:cs typeface="Noto Sans CJK SC"/>
                  </a:rPr>
                  <a:t>先读材料、问需求、做结构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095750" y="2990850"/>
              <a:ext cx="3143250" cy="1409700"/>
              <a:chOff x="4095750" y="2990850"/>
              <a:chExt cx="3143250" cy="14097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095750" y="2990850"/>
                <a:ext cx="3143250" cy="1409700"/>
              </a:xfrm>
              <a:prstGeom prst="roundRect">
                <a:avLst>
                  <a:gd name="adj" fmla="val 16216"/>
                </a:avLst>
              </a:prstGeom>
              <a:gradFill>
                <a:gsLst>
                  <a:gs pos="0">
                    <a:srgbClr val="101D33">
                      <a:alpha val="96000"/>
                    </a:srgbClr>
                  </a:gs>
                  <a:gs pos="100000">
                    <a:srgbClr val="07111F">
                      <a:alpha val="96000"/>
                    </a:srgbClr>
                  </a:gs>
                </a:gsLst>
                <a:lin ang="2700000" scaled="1"/>
              </a:gradFill>
              <a:ln w="19050">
                <a:solidFill>
                  <a:srgbClr val="8B5CF6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373880" y="3259455"/>
                <a:ext cx="143531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Bento SVG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383405" y="3759518"/>
                <a:ext cx="20145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B7C7DA"/>
                    </a:solidFill>
                    <a:latin typeface="Noto Sans CJK SC"/>
                    <a:ea typeface="Microsoft YaHei"/>
                    <a:cs typeface="Noto Sans CJK SC"/>
                  </a:rPr>
                  <a:t>卡片网格承载高密度信息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505700" y="2990850"/>
              <a:ext cx="4000500" cy="1409700"/>
              <a:chOff x="7505700" y="2990850"/>
              <a:chExt cx="4000500" cy="14097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505700" y="2990850"/>
                <a:ext cx="4000500" cy="1409700"/>
              </a:xfrm>
              <a:prstGeom prst="roundRect">
                <a:avLst>
                  <a:gd name="adj" fmla="val 16216"/>
                </a:avLst>
              </a:prstGeom>
              <a:gradFill>
                <a:gsLst>
                  <a:gs pos="0">
                    <a:srgbClr val="101D33">
                      <a:alpha val="96000"/>
                    </a:srgbClr>
                  </a:gs>
                  <a:gs pos="100000">
                    <a:srgbClr val="07111F">
                      <a:alpha val="96000"/>
                    </a:srgbClr>
                  </a:gs>
                </a:gsLst>
                <a:lin ang="2700000" scaled="1"/>
              </a:gradFill>
              <a:ln w="19050">
                <a:solidFill>
                  <a:srgbClr val="FB923C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783830" y="3259455"/>
                <a:ext cx="292019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Native Editable PPTX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93355" y="3759518"/>
                <a:ext cx="291465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ED7AA"/>
                    </a:solidFill>
                    <a:latin typeface="Noto Sans CJK SC"/>
                    <a:ea typeface="Microsoft YaHei"/>
                    <a:cs typeface="Noto Sans CJK SC"/>
                  </a:rPr>
                  <a:t>文本、卡片、线条都能直接点选修改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685800" y="5314950"/>
            <a:ext cx="10820400" cy="723900"/>
            <a:chOff x="685800" y="5314950"/>
            <a:chExt cx="10820400" cy="723900"/>
          </a:xfrm>
        </p:grpSpPr>
        <p:sp>
          <p:nvSpPr>
            <p:cNvPr id="24" name="Rectangle 24"/>
            <p:cNvSpPr/>
            <p:nvPr/>
          </p:nvSpPr>
          <p:spPr>
            <a:xfrm>
              <a:off x="685800" y="5314950"/>
              <a:ext cx="10820400" cy="723900"/>
            </a:xfrm>
            <a:prstGeom prst="roundRect">
              <a:avLst>
                <a:gd name="adj" fmla="val 26316"/>
              </a:avLst>
            </a:prstGeom>
            <a:solidFill>
              <a:srgbClr val="07111F"/>
            </a:solidFill>
            <a:ln w="14288">
              <a:solidFill>
                <a:srgbClr val="24445F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1123950" y="5543550"/>
              <a:ext cx="905256" cy="314325"/>
              <a:chOff x="1123950" y="5543550"/>
              <a:chExt cx="905256" cy="314325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123950" y="5543550"/>
                <a:ext cx="266700" cy="266700"/>
              </a:xfrm>
              <a:prstGeom prst="ellipse">
                <a:avLst/>
              </a:prstGeom>
              <a:solidFill>
                <a:srgbClr val="0F766E"/>
              </a:solidFill>
              <a:ln w="19050">
                <a:solidFill>
                  <a:srgbClr val="5EEAD4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470660" y="5614035"/>
                <a:ext cx="5585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source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2486025" y="5543550"/>
              <a:ext cx="953262" cy="314325"/>
              <a:chOff x="2486025" y="5543550"/>
              <a:chExt cx="953262" cy="314325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2486025" y="5543550"/>
                <a:ext cx="266700" cy="266700"/>
              </a:xfrm>
              <a:prstGeom prst="ellipse">
                <a:avLst/>
              </a:prstGeom>
              <a:solidFill>
                <a:srgbClr val="164E63"/>
              </a:solidFill>
              <a:ln w="19050">
                <a:solidFill>
                  <a:srgbClr val="67E8F9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832735" y="5614035"/>
                <a:ext cx="6065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consult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962400" y="5543550"/>
              <a:ext cx="913257" cy="314325"/>
              <a:chOff x="3962400" y="5543550"/>
              <a:chExt cx="913257" cy="314325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3962400" y="5543550"/>
                <a:ext cx="266700" cy="266700"/>
              </a:xfrm>
              <a:prstGeom prst="ellipse">
                <a:avLst/>
              </a:prstGeom>
              <a:solidFill>
                <a:srgbClr val="312E81"/>
              </a:solidFill>
              <a:ln w="19050">
                <a:solidFill>
                  <a:srgbClr val="A78BFA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309110" y="5614035"/>
                <a:ext cx="56654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outline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438775" y="5543550"/>
              <a:ext cx="689229" cy="314325"/>
              <a:chOff x="5438775" y="5543550"/>
              <a:chExt cx="689229" cy="314325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5438775" y="5543550"/>
                <a:ext cx="266700" cy="266700"/>
              </a:xfrm>
              <a:prstGeom prst="ellipse">
                <a:avLst/>
              </a:prstGeom>
              <a:solidFill>
                <a:srgbClr val="4338CA"/>
              </a:solidFill>
              <a:ln w="19050">
                <a:solidFill>
                  <a:srgbClr val="C4B5FD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785485" y="5614035"/>
                <a:ext cx="3425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plan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800850" y="5543550"/>
              <a:ext cx="641223" cy="314325"/>
              <a:chOff x="6800850" y="5543550"/>
              <a:chExt cx="641223" cy="314325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800850" y="5543550"/>
                <a:ext cx="266700" cy="266700"/>
              </a:xfrm>
              <a:prstGeom prst="ellipse">
                <a:avLst/>
              </a:prstGeom>
              <a:solidFill>
                <a:srgbClr val="0E7490"/>
              </a:solidFill>
              <a:ln w="19050">
                <a:solidFill>
                  <a:srgbClr val="22D3EE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147560" y="5614035"/>
                <a:ext cx="2945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SVG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172450" y="5543550"/>
              <a:ext cx="1001268" cy="314325"/>
              <a:chOff x="8172450" y="5543550"/>
              <a:chExt cx="1001268" cy="314325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8172450" y="5543550"/>
                <a:ext cx="266700" cy="266700"/>
              </a:xfrm>
              <a:prstGeom prst="ellipse">
                <a:avLst/>
              </a:prstGeom>
              <a:solidFill>
                <a:srgbClr val="854D0E"/>
              </a:solidFill>
              <a:ln w="19050">
                <a:solidFill>
                  <a:srgbClr val="FBBF24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519160" y="5614035"/>
                <a:ext cx="65455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validate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772650" y="5543550"/>
              <a:ext cx="729234" cy="314325"/>
              <a:chOff x="9772650" y="5543550"/>
              <a:chExt cx="729234" cy="314325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9772650" y="5543550"/>
                <a:ext cx="266700" cy="266700"/>
              </a:xfrm>
              <a:prstGeom prst="ellipse">
                <a:avLst/>
              </a:prstGeom>
              <a:solidFill>
                <a:srgbClr val="9A3412"/>
              </a:solidFill>
              <a:ln w="19050">
                <a:solidFill>
                  <a:srgbClr val="FB923C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119360" y="5614035"/>
                <a:ext cx="3825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PPTX</a:t>
                </a:r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1390650" y="567690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1095375" y="0"/>
                  </a:lnTo>
                  <a:moveTo>
                    <a:pt x="1362075" y="0"/>
                  </a:moveTo>
                  <a:lnTo>
                    <a:pt x="2571750" y="0"/>
                  </a:lnTo>
                  <a:moveTo>
                    <a:pt x="2838450" y="0"/>
                  </a:moveTo>
                  <a:lnTo>
                    <a:pt x="4048125" y="0"/>
                  </a:lnTo>
                  <a:moveTo>
                    <a:pt x="4314825" y="0"/>
                  </a:moveTo>
                  <a:lnTo>
                    <a:pt x="5410200" y="0"/>
                  </a:lnTo>
                  <a:moveTo>
                    <a:pt x="5676900" y="0"/>
                  </a:moveTo>
                  <a:lnTo>
                    <a:pt x="6781800" y="0"/>
                  </a:lnTo>
                  <a:moveTo>
                    <a:pt x="7048500" y="0"/>
                  </a:moveTo>
                  <a:lnTo>
                    <a:pt x="8382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52677F"/>
              </a:solidFill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50816"/>
              </a:gs>
              <a:gs pos="100000">
                <a:srgbClr val="090D1A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7700" y="660082"/>
            <a:ext cx="5221843" cy="902018"/>
            <a:chOff x="647700" y="660082"/>
            <a:chExt cx="5221843" cy="902018"/>
          </a:xfrm>
        </p:grpSpPr>
        <p:sp>
          <p:nvSpPr>
            <p:cNvPr id="3" name="TextBox 3"/>
            <p:cNvSpPr txBox="1"/>
            <p:nvPr/>
          </p:nvSpPr>
          <p:spPr>
            <a:xfrm>
              <a:off x="664845" y="660082"/>
              <a:ext cx="11161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FF4E8"/>
                  </a:solidFill>
                  <a:latin typeface="Noto Sans CJK SC"/>
                  <a:ea typeface="Microsoft YaHei"/>
                  <a:cs typeface="Noto Sans CJK SC"/>
                </a:rPr>
                <a:t>CORE IDEA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952500"/>
              <a:ext cx="522184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把 PPT 当作专家团队交付物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1619250"/>
            <a:ext cx="3714750" cy="3638550"/>
            <a:chOff x="685800" y="1619250"/>
            <a:chExt cx="3714750" cy="3638550"/>
          </a:xfrm>
        </p:grpSpPr>
        <p:sp>
          <p:nvSpPr>
            <p:cNvPr id="6" name="Rectangle 6"/>
            <p:cNvSpPr/>
            <p:nvPr/>
          </p:nvSpPr>
          <p:spPr>
            <a:xfrm>
              <a:off x="685800" y="1619250"/>
              <a:ext cx="3714750" cy="3638550"/>
            </a:xfrm>
            <a:prstGeom prst="roundRect">
              <a:avLst>
                <a:gd name="adj" fmla="val 6283"/>
              </a:avLst>
            </a:prstGeom>
            <a:solidFill>
              <a:srgbClr val="111827"/>
            </a:solidFill>
            <a:ln w="19050">
              <a:solidFill>
                <a:srgbClr val="FB923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4888" y="1950244"/>
              <a:ext cx="214788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ED7AA"/>
                  </a:solidFill>
                  <a:latin typeface="Noto Sans CJK SC"/>
                  <a:ea typeface="Microsoft YaHei"/>
                  <a:cs typeface="Noto Sans CJK SC"/>
                </a:rPr>
                <a:t>反模式：一键模板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0602" y="2513171"/>
              <a:ext cx="79629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5E1"/>
                  </a:solidFill>
                  <a:latin typeface="Noto Sans CJK SC"/>
                  <a:ea typeface="Microsoft YaHei"/>
                  <a:cs typeface="Noto Sans CJK SC"/>
                </a:rPr>
                <a:t>输入主题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104900" y="28956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7556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0602" y="3141821"/>
              <a:ext cx="79629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5E1"/>
                  </a:solidFill>
                  <a:latin typeface="Noto Sans CJK SC"/>
                  <a:ea typeface="Microsoft YaHei"/>
                  <a:cs typeface="Noto Sans CJK SC"/>
                </a:rPr>
                <a:t>粗糙大纲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104900" y="352425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7556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0602" y="3770471"/>
              <a:ext cx="60626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CBD5E1"/>
                  </a:solidFill>
                  <a:latin typeface="Noto Sans CJK SC"/>
                  <a:ea typeface="Microsoft YaHei"/>
                  <a:cs typeface="Noto Sans CJK SC"/>
                </a:rPr>
                <a:t>套模板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104900" y="41529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7556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7745" y="447008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B923C"/>
                  </a:solidFill>
                  <a:latin typeface="Noto Sans CJK SC"/>
                  <a:ea typeface="Microsoft YaHei"/>
                  <a:cs typeface="Noto Sans CJK SC"/>
                </a:rPr>
                <a:t>结果：看似快，难以信任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686300" y="1619250"/>
            <a:ext cx="6819900" cy="3638550"/>
            <a:chOff x="4686300" y="1619250"/>
            <a:chExt cx="6819900" cy="3638550"/>
          </a:xfrm>
        </p:grpSpPr>
        <p:sp>
          <p:nvSpPr>
            <p:cNvPr id="16" name="Rectangle 16"/>
            <p:cNvSpPr/>
            <p:nvPr/>
          </p:nvSpPr>
          <p:spPr>
            <a:xfrm>
              <a:off x="4686300" y="1619250"/>
              <a:ext cx="6819900" cy="3638550"/>
            </a:xfrm>
            <a:prstGeom prst="roundRect">
              <a:avLst>
                <a:gd name="adj" fmla="val 6283"/>
              </a:avLst>
            </a:prstGeom>
            <a:solidFill>
              <a:srgbClr val="0B1728"/>
            </a:solidFill>
            <a:ln w="19050">
              <a:solidFill>
                <a:srgbClr val="22D3E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05388" y="195024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专家团队模型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5029200" y="2495550"/>
              <a:ext cx="1866900" cy="742950"/>
              <a:chOff x="5029200" y="2495550"/>
              <a:chExt cx="1866900" cy="7429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029200" y="2495550"/>
                <a:ext cx="18669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102033"/>
              </a:solidFill>
              <a:ln w="9525">
                <a:solidFill>
                  <a:srgbClr val="2DD4BF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240655" y="2654618"/>
                <a:ext cx="39433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FF7FF"/>
                    </a:solidFill>
                    <a:latin typeface="Noto Sans CJK SC"/>
                    <a:ea typeface="Microsoft YaHei"/>
                    <a:cs typeface="Noto Sans CJK SC"/>
                  </a:rPr>
                  <a:t>顾问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244465" y="29346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9BD"/>
                    </a:solidFill>
                    <a:latin typeface="Noto Sans CJK SC"/>
                    <a:ea typeface="Microsoft YaHei"/>
                    <a:cs typeface="Noto Sans CJK SC"/>
                  </a:rPr>
                  <a:t>需求调研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162800" y="2495550"/>
              <a:ext cx="1866900" cy="742950"/>
              <a:chOff x="7162800" y="2495550"/>
              <a:chExt cx="1866900" cy="7429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162800" y="2495550"/>
                <a:ext cx="18669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102033"/>
              </a:solidFill>
              <a:ln w="9525">
                <a:solidFill>
                  <a:srgbClr val="38BDF8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374255" y="2654618"/>
                <a:ext cx="57435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FF7FF"/>
                    </a:solidFill>
                    <a:latin typeface="Noto Sans CJK SC"/>
                    <a:ea typeface="Microsoft YaHei"/>
                    <a:cs typeface="Noto Sans CJK SC"/>
                  </a:rPr>
                  <a:t>研究员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378065" y="29346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9BD"/>
                    </a:solidFill>
                    <a:latin typeface="Noto Sans CJK SC"/>
                    <a:ea typeface="Microsoft YaHei"/>
                    <a:cs typeface="Noto Sans CJK SC"/>
                  </a:rPr>
                  <a:t>证据包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9296400" y="2495550"/>
              <a:ext cx="1866900" cy="742950"/>
              <a:chOff x="9296400" y="2495550"/>
              <a:chExt cx="1866900" cy="7429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296400" y="2495550"/>
                <a:ext cx="18669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102033"/>
              </a:solidFill>
              <a:ln w="9525">
                <a:solidFill>
                  <a:srgbClr val="A78BFA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507855" y="2654618"/>
                <a:ext cx="9344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FF7FF"/>
                    </a:solidFill>
                    <a:latin typeface="Noto Sans CJK SC"/>
                    <a:ea typeface="Microsoft YaHei"/>
                    <a:cs typeface="Noto Sans CJK SC"/>
                  </a:rPr>
                  <a:t>结构架构师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11665" y="29346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9BD"/>
                    </a:solidFill>
                    <a:latin typeface="Noto Sans CJK SC"/>
                    <a:ea typeface="Microsoft YaHei"/>
                    <a:cs typeface="Noto Sans CJK SC"/>
                  </a:rPr>
                  <a:t>金字塔原理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029200" y="3524250"/>
              <a:ext cx="1866900" cy="742950"/>
              <a:chOff x="5029200" y="3524250"/>
              <a:chExt cx="1866900" cy="7429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029200" y="3524250"/>
                <a:ext cx="18669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102033"/>
              </a:solidFill>
              <a:ln w="9525">
                <a:solidFill>
                  <a:srgbClr val="A78BFA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240655" y="3683318"/>
                <a:ext cx="57435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FF7FF"/>
                    </a:solidFill>
                    <a:latin typeface="Noto Sans CJK SC"/>
                    <a:ea typeface="Microsoft YaHei"/>
                    <a:cs typeface="Noto Sans CJK SC"/>
                  </a:rPr>
                  <a:t>策划师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244465" y="39633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9BD"/>
                    </a:solidFill>
                    <a:latin typeface="Noto Sans CJK SC"/>
                    <a:ea typeface="Microsoft YaHei"/>
                    <a:cs typeface="Noto Sans CJK SC"/>
                  </a:rPr>
                  <a:t>页面蓝图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162800" y="3524250"/>
              <a:ext cx="1866900" cy="742950"/>
              <a:chOff x="7162800" y="3524250"/>
              <a:chExt cx="1866900" cy="7429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162800" y="3524250"/>
                <a:ext cx="18669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102033"/>
              </a:solidFill>
              <a:ln w="9525">
                <a:solidFill>
                  <a:srgbClr val="22D3EE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374255" y="3683318"/>
                <a:ext cx="92540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FF7FF"/>
                    </a:solidFill>
                    <a:latin typeface="Noto Sans CJK SC"/>
                    <a:ea typeface="Microsoft YaHei"/>
                    <a:cs typeface="Noto Sans CJK SC"/>
                  </a:rPr>
                  <a:t>SVG 设计师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378065" y="3963352"/>
                <a:ext cx="733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9BD"/>
                    </a:solidFill>
                    <a:latin typeface="Noto Sans CJK SC"/>
                    <a:ea typeface="Microsoft YaHei"/>
                    <a:cs typeface="Noto Sans CJK SC"/>
                  </a:rPr>
                  <a:t>Bento 视觉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296400" y="3524250"/>
              <a:ext cx="1866900" cy="742950"/>
              <a:chOff x="9296400" y="3524250"/>
              <a:chExt cx="1866900" cy="7429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9296400" y="3524250"/>
                <a:ext cx="1866900" cy="742950"/>
              </a:xfrm>
              <a:prstGeom prst="roundRect">
                <a:avLst>
                  <a:gd name="adj" fmla="val 20513"/>
                </a:avLst>
              </a:prstGeom>
              <a:solidFill>
                <a:srgbClr val="102033"/>
              </a:solidFill>
              <a:ln w="9525">
                <a:solidFill>
                  <a:srgbClr val="FB923C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507855" y="3683318"/>
                <a:ext cx="57435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FF7FF"/>
                    </a:solidFill>
                    <a:latin typeface="Noto Sans CJK SC"/>
                    <a:ea typeface="Microsoft YaHei"/>
                    <a:cs typeface="Noto Sans CJK SC"/>
                  </a:rPr>
                  <a:t>审核员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511665" y="39633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3A9BD"/>
                    </a:solidFill>
                    <a:latin typeface="Noto Sans CJK SC"/>
                    <a:ea typeface="Microsoft YaHei"/>
                    <a:cs typeface="Noto Sans CJK SC"/>
                  </a:rPr>
                  <a:t>验证与修复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5011102" y="4665821"/>
              <a:ext cx="440674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B6C6D7"/>
                  </a:solidFill>
                  <a:latin typeface="Noto Sans CJK SC"/>
                  <a:ea typeface="Microsoft YaHei"/>
                  <a:cs typeface="Noto Sans CJK SC"/>
                </a:rPr>
                <a:t>每个角色产出文件，让问题能被定位、讨论、返工。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5562600"/>
            <a:ext cx="10820400" cy="666750"/>
            <a:chOff x="685800" y="5562600"/>
            <a:chExt cx="10820400" cy="666750"/>
          </a:xfrm>
        </p:grpSpPr>
        <p:sp>
          <p:nvSpPr>
            <p:cNvPr id="44" name="Rectangle 44"/>
            <p:cNvSpPr/>
            <p:nvPr/>
          </p:nvSpPr>
          <p:spPr>
            <a:xfrm>
              <a:off x="685800" y="5562600"/>
              <a:ext cx="10820400" cy="666750"/>
            </a:xfrm>
            <a:prstGeom prst="roundRect">
              <a:avLst>
                <a:gd name="adj" fmla="val 25714"/>
              </a:avLst>
            </a:prstGeom>
            <a:solidFill>
              <a:srgbClr val="07111F"/>
            </a:solidFill>
            <a:ln w="9525">
              <a:solidFill>
                <a:srgbClr val="2444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7745" y="5803582"/>
              <a:ext cx="84744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F2FE"/>
                  </a:solidFill>
                  <a:latin typeface="Noto Sans CJK SC"/>
                  <a:ea typeface="Microsoft YaHei"/>
                  <a:cs typeface="Noto Sans CJK SC"/>
                </a:rPr>
                <a:t>核心转变：从“让模型一次猜完整 PPT”变成“让 Codex 分阶段交付可检查中间件”。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7700" y="660082"/>
            <a:ext cx="6671024" cy="902018"/>
            <a:chOff x="647700" y="660082"/>
            <a:chExt cx="6671024" cy="902018"/>
          </a:xfrm>
        </p:grpSpPr>
        <p:sp>
          <p:nvSpPr>
            <p:cNvPr id="3" name="TextBox 3"/>
            <p:cNvSpPr txBox="1"/>
            <p:nvPr/>
          </p:nvSpPr>
          <p:spPr>
            <a:xfrm>
              <a:off x="664845" y="660082"/>
              <a:ext cx="17399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FF4E8"/>
                  </a:solidFill>
                  <a:latin typeface="Noto Sans CJK SC"/>
                  <a:ea typeface="Microsoft YaHei"/>
                  <a:cs typeface="Noto Sans CJK SC"/>
                </a:rPr>
                <a:t>WORKFLOW MAP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952500"/>
              <a:ext cx="667102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0 到 8：把不确定性变成可检查文件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5800" y="1524000"/>
            <a:ext cx="10820400" cy="4000500"/>
            <a:chOff x="685800" y="1524000"/>
            <a:chExt cx="10820400" cy="4000500"/>
          </a:xfrm>
        </p:grpSpPr>
        <p:sp>
          <p:nvSpPr>
            <p:cNvPr id="6" name="Rectangle 6"/>
            <p:cNvSpPr/>
            <p:nvPr/>
          </p:nvSpPr>
          <p:spPr>
            <a:xfrm>
              <a:off x="685800" y="1524000"/>
              <a:ext cx="10820400" cy="4000500"/>
            </a:xfrm>
            <a:prstGeom prst="roundRect">
              <a:avLst>
                <a:gd name="adj" fmla="val 6190"/>
              </a:avLst>
            </a:prstGeom>
            <a:solidFill>
              <a:srgbClr val="0B1728"/>
            </a:solidFill>
            <a:ln w="19050">
              <a:solidFill>
                <a:srgbClr val="22D3EE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381125" y="3238500"/>
              <a:ext cx="9429750" cy="9525"/>
            </a:xfrm>
            <a:custGeom>
              <a:avLst/>
              <a:gdLst/>
              <a:ahLst/>
              <a:cxnLst/>
              <a:rect l="l" t="t" r="r" b="b"/>
              <a:pathLst>
                <a:path w="9429750" h="9525">
                  <a:moveTo>
                    <a:pt x="0" y="0"/>
                  </a:moveTo>
                  <a:lnTo>
                    <a:pt x="9429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334155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02970" y="2990850"/>
              <a:ext cx="725805" cy="1133475"/>
              <a:chOff x="902970" y="2990850"/>
              <a:chExt cx="725805" cy="1133475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133475" y="2990850"/>
                <a:ext cx="495300" cy="495300"/>
              </a:xfrm>
              <a:prstGeom prst="ellipse">
                <a:avLst/>
              </a:prstGeom>
              <a:solidFill>
                <a:srgbClr val="0F766E"/>
              </a:solidFill>
              <a:ln w="28575">
                <a:solidFill>
                  <a:srgbClr val="5EEAD4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83970" y="3146108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0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95362" y="3650456"/>
                <a:ext cx="5236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Source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02970" y="3941445"/>
                <a:ext cx="5869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1A7BD"/>
                    </a:solidFill>
                    <a:latin typeface="Noto Sans CJK SC"/>
                    <a:ea typeface="Microsoft YaHei"/>
                    <a:cs typeface="Noto Sans CJK SC"/>
                  </a:rPr>
                  <a:t>inventory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045970" y="2990850"/>
              <a:ext cx="808958" cy="1133475"/>
              <a:chOff x="2045970" y="2990850"/>
              <a:chExt cx="808958" cy="1133475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2305050" y="2990850"/>
                <a:ext cx="495300" cy="495300"/>
              </a:xfrm>
              <a:prstGeom prst="ellipse">
                <a:avLst/>
              </a:prstGeom>
              <a:solidFill>
                <a:srgbClr val="164E63"/>
              </a:solidFill>
              <a:ln w="28575">
                <a:solidFill>
                  <a:srgbClr val="67E8F9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455545" y="3146108"/>
                <a:ext cx="11121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195512" y="3650456"/>
                <a:ext cx="5686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Consult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045970" y="3941445"/>
                <a:ext cx="8089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1A7BD"/>
                    </a:solidFill>
                    <a:latin typeface="Noto Sans CJK SC"/>
                    <a:ea typeface="Microsoft YaHei"/>
                    <a:cs typeface="Noto Sans CJK SC"/>
                  </a:rPr>
                  <a:t>requirements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395662" y="2990850"/>
              <a:ext cx="688658" cy="1133475"/>
              <a:chOff x="3395662" y="2990850"/>
              <a:chExt cx="688658" cy="113347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3476625" y="2990850"/>
                <a:ext cx="495300" cy="495300"/>
              </a:xfrm>
              <a:prstGeom prst="ellipse">
                <a:avLst/>
              </a:prstGeom>
              <a:solidFill>
                <a:srgbClr val="075985"/>
              </a:solidFill>
              <a:ln w="28575">
                <a:solidFill>
                  <a:srgbClr val="38BDF8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627120" y="3146108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395662" y="3650456"/>
                <a:ext cx="6886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Research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436620" y="3941445"/>
                <a:ext cx="4849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1A7BD"/>
                    </a:solidFill>
                    <a:latin typeface="Noto Sans CJK SC"/>
                    <a:ea typeface="Microsoft YaHei"/>
                    <a:cs typeface="Noto Sans CJK SC"/>
                  </a:rPr>
                  <a:t>sources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560570" y="2990850"/>
              <a:ext cx="582930" cy="1133475"/>
              <a:chOff x="4560570" y="2990850"/>
              <a:chExt cx="582930" cy="1133475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4648200" y="2990850"/>
                <a:ext cx="495300" cy="495300"/>
              </a:xfrm>
              <a:prstGeom prst="ellipse">
                <a:avLst/>
              </a:prstGeom>
              <a:solidFill>
                <a:srgbClr val="312E81"/>
              </a:solidFill>
              <a:ln w="28575">
                <a:solidFill>
                  <a:srgbClr val="A78BFA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798695" y="3146108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76762" y="3650456"/>
                <a:ext cx="5611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Outline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60570" y="3941445"/>
                <a:ext cx="3889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1A7BD"/>
                    </a:solidFill>
                    <a:latin typeface="Noto Sans CJK SC"/>
                    <a:ea typeface="Microsoft YaHei"/>
                    <a:cs typeface="Noto Sans CJK SC"/>
                  </a:rPr>
                  <a:t>sticky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684520" y="2990850"/>
              <a:ext cx="652939" cy="1133475"/>
              <a:chOff x="5684520" y="2990850"/>
              <a:chExt cx="652939" cy="1133475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5819775" y="2990850"/>
                <a:ext cx="495300" cy="495300"/>
              </a:xfrm>
              <a:prstGeom prst="ellipse">
                <a:avLst/>
              </a:prstGeom>
              <a:solidFill>
                <a:srgbClr val="4338CA"/>
              </a:solidFill>
              <a:ln w="28575">
                <a:solidFill>
                  <a:srgbClr val="C4B5FD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970270" y="3146108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34062" y="3650456"/>
                <a:ext cx="3211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Plan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684520" y="3941445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1A7BD"/>
                    </a:solidFill>
                    <a:latin typeface="Noto Sans CJK SC"/>
                    <a:ea typeface="Microsoft YaHei"/>
                    <a:cs typeface="Noto Sans CJK SC"/>
                  </a:rPr>
                  <a:t>page_plans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979920" y="2990850"/>
              <a:ext cx="506730" cy="1133475"/>
              <a:chOff x="6979920" y="2990850"/>
              <a:chExt cx="506730" cy="1133475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6991350" y="2990850"/>
                <a:ext cx="495300" cy="495300"/>
              </a:xfrm>
              <a:prstGeom prst="ellipse">
                <a:avLst/>
              </a:prstGeom>
              <a:solidFill>
                <a:srgbClr val="0E7490"/>
              </a:solidFill>
              <a:ln w="28575">
                <a:solidFill>
                  <a:srgbClr val="22D3EE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141845" y="3146108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5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072312" y="3650456"/>
                <a:ext cx="276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SVG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979920" y="3941445"/>
                <a:ext cx="3589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1A7BD"/>
                    </a:solidFill>
                    <a:latin typeface="Noto Sans CJK SC"/>
                    <a:ea typeface="Microsoft YaHei"/>
                    <a:cs typeface="Noto Sans CJK SC"/>
                  </a:rPr>
                  <a:t>slides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081962" y="2990850"/>
              <a:ext cx="613648" cy="1133475"/>
              <a:chOff x="8081962" y="2990850"/>
              <a:chExt cx="613648" cy="1133475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8162925" y="2990850"/>
                <a:ext cx="495300" cy="495300"/>
              </a:xfrm>
              <a:prstGeom prst="ellipse">
                <a:avLst/>
              </a:prstGeom>
              <a:solidFill>
                <a:srgbClr val="854D0E"/>
              </a:solidFill>
              <a:ln w="28575">
                <a:solidFill>
                  <a:srgbClr val="FBBF2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313420" y="3146108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6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81962" y="3650456"/>
                <a:ext cx="61364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Validate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122920" y="3941445"/>
                <a:ext cx="5449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1A7BD"/>
                    </a:solidFill>
                    <a:latin typeface="Noto Sans CJK SC"/>
                    <a:ea typeface="Microsoft YaHei"/>
                    <a:cs typeface="Noto Sans CJK SC"/>
                  </a:rPr>
                  <a:t>previews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9284970" y="2990850"/>
              <a:ext cx="544830" cy="1133475"/>
              <a:chOff x="9284970" y="2990850"/>
              <a:chExt cx="544830" cy="1133475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9334500" y="2990850"/>
                <a:ext cx="495300" cy="495300"/>
              </a:xfrm>
              <a:prstGeom prst="ellipse">
                <a:avLst/>
              </a:prstGeom>
              <a:solidFill>
                <a:srgbClr val="9A3412"/>
              </a:solidFill>
              <a:ln w="28575">
                <a:solidFill>
                  <a:srgbClr val="FB923C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484995" y="3146108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7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396412" y="3650456"/>
                <a:ext cx="358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PPTX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284970" y="3941445"/>
                <a:ext cx="4909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1A7BD"/>
                    </a:solidFill>
                    <a:latin typeface="Noto Sans CJK SC"/>
                    <a:ea typeface="Microsoft YaHei"/>
                    <a:cs typeface="Noto Sans CJK SC"/>
                  </a:rPr>
                  <a:t>editable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0463212" y="2990850"/>
              <a:ext cx="651153" cy="1133475"/>
              <a:chOff x="10463212" y="2990850"/>
              <a:chExt cx="651153" cy="1133475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10506075" y="2990850"/>
                <a:ext cx="495300" cy="495300"/>
              </a:xfrm>
              <a:prstGeom prst="ellipse">
                <a:avLst/>
              </a:prstGeom>
              <a:solidFill>
                <a:srgbClr val="14532D"/>
              </a:solidFill>
              <a:ln w="28575">
                <a:solidFill>
                  <a:srgbClr val="86EFAC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656570" y="3146108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8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463212" y="3650456"/>
                <a:ext cx="6511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Evidence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513695" y="3941445"/>
                <a:ext cx="4189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1A7BD"/>
                    </a:solidFill>
                    <a:latin typeface="Noto Sans CJK SC"/>
                    <a:ea typeface="Microsoft YaHei"/>
                    <a:cs typeface="Noto Sans CJK SC"/>
                  </a:rPr>
                  <a:t>checks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1046798" y="4687729"/>
              <a:ext cx="603835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0F2FE"/>
                  </a:solidFill>
                  <a:latin typeface="Noto Sans CJK SC"/>
                  <a:ea typeface="Microsoft YaHei"/>
                  <a:cs typeface="Noto Sans CJK SC"/>
                </a:rPr>
                <a:t>Gate rule: 不跳过预览、native dry-run 和 PPTX inspect。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5800" y="5753100"/>
            <a:ext cx="10820400" cy="571500"/>
            <a:chOff x="685800" y="5753100"/>
            <a:chExt cx="10820400" cy="571500"/>
          </a:xfrm>
        </p:grpSpPr>
        <p:sp>
          <p:nvSpPr>
            <p:cNvPr id="55" name="Rectangle 55"/>
            <p:cNvSpPr/>
            <p:nvPr/>
          </p:nvSpPr>
          <p:spPr>
            <a:xfrm>
              <a:off x="685800" y="5753100"/>
              <a:ext cx="3429000" cy="571500"/>
            </a:xfrm>
            <a:prstGeom prst="roundRect">
              <a:avLst>
                <a:gd name="adj" fmla="val 26667"/>
              </a:avLst>
            </a:prstGeom>
            <a:solidFill>
              <a:srgbClr val="07111F"/>
            </a:solidFill>
            <a:ln w="9525">
              <a:solidFill>
                <a:srgbClr val="22D3EE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54405" y="5969318"/>
              <a:ext cx="21315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Noto Sans CJK SC"/>
                  <a:ea typeface="Microsoft YaHei"/>
                  <a:cs typeface="Noto Sans CJK SC"/>
                </a:rPr>
                <a:t>输入清楚：source digest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305300" y="5753100"/>
              <a:ext cx="3429000" cy="571500"/>
            </a:xfrm>
            <a:prstGeom prst="roundRect">
              <a:avLst>
                <a:gd name="adj" fmla="val 26667"/>
              </a:avLst>
            </a:prstGeom>
            <a:solidFill>
              <a:srgbClr val="07111F"/>
            </a:solidFill>
            <a:ln w="9525">
              <a:solidFill>
                <a:srgbClr val="A78BF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73905" y="59693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Noto Sans CJK SC"/>
                  <a:ea typeface="Microsoft YaHei"/>
                  <a:cs typeface="Noto Sans CJK SC"/>
                </a:rPr>
                <a:t>过程清楚：outline + plans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924800" y="5753100"/>
              <a:ext cx="3581400" cy="571500"/>
            </a:xfrm>
            <a:prstGeom prst="roundRect">
              <a:avLst>
                <a:gd name="adj" fmla="val 26667"/>
              </a:avLst>
            </a:prstGeom>
            <a:solidFill>
              <a:srgbClr val="07111F"/>
            </a:solidFill>
            <a:ln w="9525">
              <a:solidFill>
                <a:srgbClr val="FB923C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93405" y="5969318"/>
              <a:ext cx="26356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BEAFE"/>
                  </a:solidFill>
                  <a:latin typeface="Noto Sans CJK SC"/>
                  <a:ea typeface="Microsoft YaHei"/>
                  <a:cs typeface="Noto Sans CJK SC"/>
                </a:rPr>
                <a:t>交付清楚：editable + snapshot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7700" y="660082"/>
            <a:ext cx="7658148" cy="902018"/>
            <a:chOff x="647700" y="660082"/>
            <a:chExt cx="7658148" cy="902018"/>
          </a:xfrm>
        </p:grpSpPr>
        <p:sp>
          <p:nvSpPr>
            <p:cNvPr id="3" name="TextBox 3"/>
            <p:cNvSpPr txBox="1"/>
            <p:nvPr/>
          </p:nvSpPr>
          <p:spPr>
            <a:xfrm>
              <a:off x="664845" y="660082"/>
              <a:ext cx="8736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FF4E8"/>
                  </a:solidFill>
                  <a:latin typeface="Noto Sans CJK SC"/>
                  <a:ea typeface="Microsoft YaHei"/>
                  <a:cs typeface="Noto Sans CJK SC"/>
                </a:rPr>
                <a:t>STAGE 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952500"/>
              <a:ext cx="765814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Source Ingestion：先读材料，再谈需求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1562100"/>
            <a:ext cx="3672601" cy="3886200"/>
            <a:chOff x="685800" y="1562100"/>
            <a:chExt cx="3672601" cy="3886200"/>
          </a:xfrm>
        </p:grpSpPr>
        <p:sp>
          <p:nvSpPr>
            <p:cNvPr id="6" name="Rectangle 6"/>
            <p:cNvSpPr/>
            <p:nvPr/>
          </p:nvSpPr>
          <p:spPr>
            <a:xfrm>
              <a:off x="685800" y="1562100"/>
              <a:ext cx="3476625" cy="3886200"/>
            </a:xfrm>
            <a:prstGeom prst="roundRect">
              <a:avLst>
                <a:gd name="adj" fmla="val 6575"/>
              </a:avLst>
            </a:prstGeom>
            <a:solidFill>
              <a:srgbClr val="0B1728"/>
            </a:solidFill>
            <a:ln w="19050">
              <a:solidFill>
                <a:srgbClr val="22D3E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4888" y="185499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输入材料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28700" y="2419350"/>
              <a:ext cx="2362200" cy="419100"/>
              <a:chOff x="1028700" y="2419350"/>
              <a:chExt cx="2362200" cy="4191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028700" y="2419350"/>
                <a:ext cx="23622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102033"/>
              </a:solidFill>
              <a:ln w="9525">
                <a:solidFill>
                  <a:srgbClr val="2DD4BF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41108" y="2557939"/>
                <a:ext cx="141805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Markdown / text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028700" y="3009900"/>
              <a:ext cx="2362200" cy="419100"/>
              <a:chOff x="1028700" y="3009900"/>
              <a:chExt cx="2362200" cy="4191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028700" y="3009900"/>
                <a:ext cx="23622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102033"/>
              </a:solidFill>
              <a:ln w="9525">
                <a:solidFill>
                  <a:srgbClr val="38BDF8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41108" y="3148489"/>
                <a:ext cx="91649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DOCX / PDF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028700" y="3600450"/>
              <a:ext cx="2362200" cy="419100"/>
              <a:chOff x="1028700" y="3600450"/>
              <a:chExt cx="2362200" cy="4191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028700" y="3600450"/>
                <a:ext cx="23622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102033"/>
              </a:solidFill>
              <a:ln w="9525">
                <a:solidFill>
                  <a:srgbClr val="A78BFA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41108" y="3739039"/>
                <a:ext cx="135855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XLSX / CSV / TSV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028700" y="4191000"/>
              <a:ext cx="2362200" cy="419100"/>
              <a:chOff x="1028700" y="4191000"/>
              <a:chExt cx="2362200" cy="4191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28700" y="4191000"/>
                <a:ext cx="23622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102033"/>
              </a:solidFill>
              <a:ln w="9525">
                <a:solidFill>
                  <a:srgbClr val="FB923C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41108" y="4329589"/>
                <a:ext cx="115452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images / SVGs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014412" y="4926806"/>
              <a:ext cx="33439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1A7BD"/>
                  </a:solidFill>
                  <a:latin typeface="Noto Sans CJK SC"/>
                  <a:ea typeface="Microsoft YaHei"/>
                  <a:cs typeface="Noto Sans CJK SC"/>
                </a:rPr>
                <a:t>目录会递归扫描；不支持文件也会记录 warning。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57700" y="1562100"/>
            <a:ext cx="3276600" cy="3886200"/>
            <a:chOff x="4457700" y="1562100"/>
            <a:chExt cx="3276600" cy="3886200"/>
          </a:xfrm>
        </p:grpSpPr>
        <p:sp>
          <p:nvSpPr>
            <p:cNvPr id="22" name="Rectangle 22"/>
            <p:cNvSpPr/>
            <p:nvPr/>
          </p:nvSpPr>
          <p:spPr>
            <a:xfrm>
              <a:off x="4457700" y="1562100"/>
              <a:ext cx="3276600" cy="3886200"/>
            </a:xfrm>
            <a:prstGeom prst="roundRect">
              <a:avLst>
                <a:gd name="adj" fmla="val 6977"/>
              </a:avLst>
            </a:prstGeom>
            <a:solidFill>
              <a:srgbClr val="0B1728"/>
            </a:solidFill>
            <a:ln w="19050">
              <a:solidFill>
                <a:srgbClr val="8B5CF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76788" y="1854994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优先级路由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105400" y="27241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5B6B8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933950" y="2552700"/>
              <a:ext cx="342900" cy="342900"/>
            </a:xfrm>
            <a:prstGeom prst="ellipse">
              <a:avLst/>
            </a:prstGeom>
            <a:solidFill>
              <a:srgbClr val="312E81"/>
            </a:solidFill>
            <a:ln w="19050">
              <a:solidFill>
                <a:srgbClr val="C4B5F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74958" y="2643664"/>
              <a:ext cx="7974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DBEAFE"/>
                  </a:solidFill>
                  <a:latin typeface="Noto Sans CJK SC"/>
                  <a:ea typeface="Microsoft YaHei"/>
                  <a:cs typeface="Noto Sans CJK SC"/>
                </a:rPr>
                <a:t>docx skill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4933950" y="3219450"/>
              <a:ext cx="342900" cy="342900"/>
            </a:xfrm>
            <a:prstGeom prst="ellipse">
              <a:avLst/>
            </a:prstGeom>
            <a:solidFill>
              <a:srgbClr val="312E81"/>
            </a:solidFill>
            <a:ln w="19050">
              <a:solidFill>
                <a:srgbClr val="C4B5F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74958" y="3310414"/>
              <a:ext cx="70396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DBEAFE"/>
                  </a:solidFill>
                  <a:latin typeface="Noto Sans CJK SC"/>
                  <a:ea typeface="Microsoft YaHei"/>
                  <a:cs typeface="Noto Sans CJK SC"/>
                </a:rPr>
                <a:t>pdf skill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933950" y="3886200"/>
              <a:ext cx="342900" cy="342900"/>
            </a:xfrm>
            <a:prstGeom prst="ellipse">
              <a:avLst/>
            </a:prstGeom>
            <a:solidFill>
              <a:srgbClr val="312E81"/>
            </a:solidFill>
            <a:ln w="19050">
              <a:solidFill>
                <a:srgbClr val="C4B5FD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74958" y="3977164"/>
              <a:ext cx="7549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DBEAFE"/>
                  </a:solidFill>
                  <a:latin typeface="Noto Sans CJK SC"/>
                  <a:ea typeface="Microsoft YaHei"/>
                  <a:cs typeface="Noto Sans CJK SC"/>
                </a:rPr>
                <a:t>xlsx skill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800600" y="4610100"/>
              <a:ext cx="2286000" cy="457200"/>
            </a:xfrm>
            <a:prstGeom prst="roundRect">
              <a:avLst>
                <a:gd name="adj" fmla="val 29167"/>
              </a:avLst>
            </a:prstGeom>
            <a:solidFill>
              <a:srgbClr val="111827"/>
            </a:solidFill>
            <a:ln w="9525">
              <a:solidFill>
                <a:srgbClr val="6474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93958" y="4767739"/>
              <a:ext cx="186861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2E8F0"/>
                  </a:solidFill>
                  <a:latin typeface="Noto Sans CJK SC"/>
                  <a:ea typeface="Microsoft YaHei"/>
                  <a:cs typeface="Noto Sans CJK SC"/>
                </a:rPr>
                <a:t>fallback normalization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39100" y="1562100"/>
            <a:ext cx="3467100" cy="3886200"/>
            <a:chOff x="8039100" y="1562100"/>
            <a:chExt cx="3467100" cy="3886200"/>
          </a:xfrm>
        </p:grpSpPr>
        <p:sp>
          <p:nvSpPr>
            <p:cNvPr id="34" name="Rectangle 34"/>
            <p:cNvSpPr/>
            <p:nvPr/>
          </p:nvSpPr>
          <p:spPr>
            <a:xfrm>
              <a:off x="8039100" y="1562100"/>
              <a:ext cx="3467100" cy="3886200"/>
            </a:xfrm>
            <a:prstGeom prst="roundRect">
              <a:avLst>
                <a:gd name="adj" fmla="val 6593"/>
              </a:avLst>
            </a:prstGeom>
            <a:solidFill>
              <a:srgbClr val="0B1728"/>
            </a:solidFill>
            <a:ln w="19050">
              <a:solidFill>
                <a:srgbClr val="FB923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58188" y="1854994"/>
              <a:ext cx="136028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标准化产物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82000" y="2476500"/>
              <a:ext cx="2362200" cy="514350"/>
            </a:xfrm>
            <a:prstGeom prst="roundRect">
              <a:avLst>
                <a:gd name="adj" fmla="val 25926"/>
              </a:avLst>
            </a:prstGeom>
            <a:solidFill>
              <a:srgbClr val="111827"/>
            </a:solidFill>
            <a:ln w="9525">
              <a:solidFill>
                <a:srgbClr val="FB923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75358" y="2662714"/>
              <a:ext cx="19111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ED7AA"/>
                  </a:solidFill>
                  <a:latin typeface="Noto Sans CJK SC"/>
                  <a:ea typeface="Microsoft YaHei"/>
                  <a:cs typeface="Noto Sans CJK SC"/>
                </a:rPr>
                <a:t>source_inventory.json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82000" y="3200400"/>
              <a:ext cx="2362200" cy="514350"/>
            </a:xfrm>
            <a:prstGeom prst="roundRect">
              <a:avLst>
                <a:gd name="adj" fmla="val 25926"/>
              </a:avLst>
            </a:prstGeom>
            <a:solidFill>
              <a:srgbClr val="111827"/>
            </a:solidFill>
            <a:ln w="9525">
              <a:solidFill>
                <a:srgbClr val="FBBF2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75358" y="3386614"/>
              <a:ext cx="15200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EF3C7"/>
                  </a:solidFill>
                  <a:latin typeface="Noto Sans CJK SC"/>
                  <a:ea typeface="Microsoft YaHei"/>
                  <a:cs typeface="Noto Sans CJK SC"/>
                </a:rPr>
                <a:t>source_digest.md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382000" y="3924300"/>
              <a:ext cx="2362200" cy="514350"/>
            </a:xfrm>
            <a:prstGeom prst="roundRect">
              <a:avLst>
                <a:gd name="adj" fmla="val 25926"/>
              </a:avLst>
            </a:prstGeom>
            <a:solidFill>
              <a:srgbClr val="111827"/>
            </a:solidFill>
            <a:ln w="9525">
              <a:solidFill>
                <a:srgbClr val="5EEAD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75358" y="4110514"/>
              <a:ext cx="13415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CCFBF1"/>
                  </a:solidFill>
                  <a:latin typeface="Noto Sans CJK SC"/>
                  <a:ea typeface="Microsoft YaHei"/>
                  <a:cs typeface="Noto Sans CJK SC"/>
                </a:rPr>
                <a:t>source_assets/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67712" y="483155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1A7BD"/>
                  </a:solidFill>
                  <a:latin typeface="Noto Sans CJK SC"/>
                  <a:ea typeface="Microsoft YaHei"/>
                  <a:cs typeface="Noto Sans CJK SC"/>
                </a:rPr>
                <a:t>嵌入图片和用户图片进入备用素材池。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5753100"/>
            <a:ext cx="10820400" cy="590550"/>
            <a:chOff x="685800" y="5753100"/>
            <a:chExt cx="10820400" cy="590550"/>
          </a:xfrm>
        </p:grpSpPr>
        <p:sp>
          <p:nvSpPr>
            <p:cNvPr id="44" name="Rectangle 44"/>
            <p:cNvSpPr/>
            <p:nvPr/>
          </p:nvSpPr>
          <p:spPr>
            <a:xfrm>
              <a:off x="685800" y="5753100"/>
              <a:ext cx="10820400" cy="590550"/>
            </a:xfrm>
            <a:prstGeom prst="roundRect">
              <a:avLst>
                <a:gd name="adj" fmla="val 29032"/>
              </a:avLst>
            </a:prstGeom>
            <a:solidFill>
              <a:srgbClr val="07111F"/>
            </a:solidFill>
            <a:ln w="9525">
              <a:solidFill>
                <a:srgbClr val="2444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8698" y="5954554"/>
              <a:ext cx="77584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0F2FE"/>
                  </a:solidFill>
                  <a:latin typeface="Noto Sans CJK SC"/>
                  <a:ea typeface="Microsoft YaHei"/>
                  <a:cs typeface="Noto Sans CJK SC"/>
                </a:rPr>
                <a:t>价值：需求、研究、设计都从具体材料出发，降低幻觉并保留可复用视觉资产。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7700" y="660082"/>
            <a:ext cx="4759785" cy="902018"/>
            <a:chOff x="647700" y="660082"/>
            <a:chExt cx="4759785" cy="902018"/>
          </a:xfrm>
        </p:grpSpPr>
        <p:sp>
          <p:nvSpPr>
            <p:cNvPr id="3" name="TextBox 3"/>
            <p:cNvSpPr txBox="1"/>
            <p:nvPr/>
          </p:nvSpPr>
          <p:spPr>
            <a:xfrm>
              <a:off x="664845" y="660082"/>
              <a:ext cx="22482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FF4E8"/>
                  </a:solidFill>
                  <a:latin typeface="Noto Sans CJK SC"/>
                  <a:ea typeface="Microsoft YaHei"/>
                  <a:cs typeface="Noto Sans CJK SC"/>
                </a:rPr>
                <a:t>PROMPT ENGINEERING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952500"/>
              <a:ext cx="475978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结构架构师 + 研究上下文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1619250"/>
            <a:ext cx="3207543" cy="3714750"/>
            <a:chOff x="685800" y="1619250"/>
            <a:chExt cx="3207543" cy="3714750"/>
          </a:xfrm>
        </p:grpSpPr>
        <p:sp>
          <p:nvSpPr>
            <p:cNvPr id="6" name="Rectangle 6"/>
            <p:cNvSpPr/>
            <p:nvPr/>
          </p:nvSpPr>
          <p:spPr>
            <a:xfrm>
              <a:off x="685800" y="1619250"/>
              <a:ext cx="2743200" cy="3714750"/>
            </a:xfrm>
            <a:prstGeom prst="roundRect">
              <a:avLst>
                <a:gd name="adj" fmla="val 8333"/>
              </a:avLst>
            </a:prstGeom>
            <a:solidFill>
              <a:srgbClr val="0B1728"/>
            </a:solidFill>
            <a:ln w="19050">
              <a:solidFill>
                <a:srgbClr val="22D3E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5840" y="1939290"/>
              <a:ext cx="22005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Research Packets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28700" y="2533650"/>
              <a:ext cx="1924050" cy="400050"/>
            </a:xfrm>
            <a:prstGeom prst="roundRect">
              <a:avLst>
                <a:gd name="adj" fmla="val 28571"/>
              </a:avLst>
            </a:prstGeom>
            <a:solidFill>
              <a:srgbClr val="102033"/>
            </a:solidFill>
            <a:ln w="9525">
              <a:solidFill>
                <a:srgbClr val="2DD4B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03960" y="2661285"/>
              <a:ext cx="10946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BEAFE"/>
                  </a:solidFill>
                  <a:latin typeface="Noto Sans CJK SC"/>
                  <a:ea typeface="Microsoft YaHei"/>
                  <a:cs typeface="Noto Sans CJK SC"/>
                </a:rPr>
                <a:t>facts + dates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28700" y="3143250"/>
              <a:ext cx="1924050" cy="400050"/>
            </a:xfrm>
            <a:prstGeom prst="roundRect">
              <a:avLst>
                <a:gd name="adj" fmla="val 28571"/>
              </a:avLst>
            </a:prstGeom>
            <a:solidFill>
              <a:srgbClr val="102033"/>
            </a:solidFill>
            <a:ln w="9525">
              <a:solidFill>
                <a:srgbClr val="38BDF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3960" y="3270885"/>
              <a:ext cx="13586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BEAFE"/>
                  </a:solidFill>
                  <a:latin typeface="Noto Sans CJK SC"/>
                  <a:ea typeface="Microsoft YaHei"/>
                  <a:cs typeface="Noto Sans CJK SC"/>
                </a:rPr>
                <a:t>source + caveats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28700" y="3752850"/>
              <a:ext cx="1924050" cy="400050"/>
            </a:xfrm>
            <a:prstGeom prst="roundRect">
              <a:avLst>
                <a:gd name="adj" fmla="val 28571"/>
              </a:avLst>
            </a:prstGeom>
            <a:solidFill>
              <a:srgbClr val="102033"/>
            </a:solidFill>
            <a:ln w="9525">
              <a:solidFill>
                <a:srgbClr val="A78BF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03960" y="3880485"/>
              <a:ext cx="7905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BEAFE"/>
                  </a:solidFill>
                  <a:latin typeface="Noto Sans CJK SC"/>
                  <a:ea typeface="Microsoft YaHei"/>
                  <a:cs typeface="Noto Sans CJK SC"/>
                </a:rPr>
                <a:t>slide uses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4412" y="4641056"/>
              <a:ext cx="2878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1A7BD"/>
                  </a:solidFill>
                  <a:latin typeface="Noto Sans CJK SC"/>
                  <a:ea typeface="Microsoft YaHei"/>
                  <a:cs typeface="Noto Sans CJK SC"/>
                </a:rPr>
                <a:t>研究不是摘要，而是给页面使用的证据包。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95700" y="1333500"/>
            <a:ext cx="4800600" cy="4286250"/>
            <a:chOff x="3695700" y="1333500"/>
            <a:chExt cx="4800600" cy="4286250"/>
          </a:xfrm>
        </p:grpSpPr>
        <p:sp>
          <p:nvSpPr>
            <p:cNvPr id="16" name="Rectangle 16"/>
            <p:cNvSpPr/>
            <p:nvPr/>
          </p:nvSpPr>
          <p:spPr>
            <a:xfrm>
              <a:off x="3695700" y="1333500"/>
              <a:ext cx="4800600" cy="4286250"/>
            </a:xfrm>
            <a:prstGeom prst="roundRect">
              <a:avLst>
                <a:gd name="adj" fmla="val 5778"/>
              </a:avLst>
            </a:prstGeom>
            <a:solidFill>
              <a:srgbClr val="0B1728"/>
            </a:solidFill>
            <a:ln w="19050">
              <a:solidFill>
                <a:srgbClr val="8B5CF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014788" y="1645444"/>
              <a:ext cx="247605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顶级 PPT 结构架构师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23360" y="2042160"/>
              <a:ext cx="30148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7C7DA"/>
                  </a:solidFill>
                  <a:latin typeface="Noto Sans CJK SC"/>
                  <a:ea typeface="Microsoft YaHei"/>
                  <a:cs typeface="Noto Sans CJK SC"/>
                </a:rPr>
                <a:t>Context-aware · 金字塔原理 · 结论先行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4810125" y="2609850"/>
              <a:ext cx="2571750" cy="2057400"/>
            </a:xfrm>
            <a:custGeom>
              <a:avLst/>
              <a:gdLst/>
              <a:ahLst/>
              <a:cxnLst/>
              <a:rect l="l" t="t" r="r" b="b"/>
              <a:pathLst>
                <a:path w="2571750" h="2057400">
                  <a:moveTo>
                    <a:pt x="1285875" y="0"/>
                  </a:moveTo>
                  <a:lnTo>
                    <a:pt x="0" y="2057400"/>
                  </a:lnTo>
                  <a:lnTo>
                    <a:pt x="2571750" y="2057400"/>
                  </a:lnTo>
                  <a:close/>
                </a:path>
              </a:pathLst>
            </a:custGeom>
            <a:solidFill>
              <a:srgbClr val="151B3A"/>
            </a:solidFill>
            <a:ln w="19050">
              <a:solidFill>
                <a:srgbClr val="A78BF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305425" y="3867150"/>
              <a:ext cx="1581150" cy="9525"/>
            </a:xfrm>
            <a:custGeom>
              <a:avLst/>
              <a:gdLst/>
              <a:ahLst/>
              <a:cxnLst/>
              <a:rect l="l" t="t" r="r" b="b"/>
              <a:pathLst>
                <a:path w="1581150" h="9525">
                  <a:moveTo>
                    <a:pt x="0" y="0"/>
                  </a:moveTo>
                  <a:lnTo>
                    <a:pt x="1581150" y="0"/>
                  </a:lnTo>
                </a:path>
              </a:pathLst>
            </a:custGeom>
            <a:noFill/>
            <a:ln w="19050">
              <a:solidFill>
                <a:srgbClr val="A78BF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619750" y="33528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A78BF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75960" y="30613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核心结论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91162" y="35742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0E7FF"/>
                  </a:solidFill>
                  <a:latin typeface="Noto Sans CJK SC"/>
                  <a:ea typeface="Microsoft YaHei"/>
                  <a:cs typeface="Noto Sans CJK SC"/>
                </a:rPr>
                <a:t>分组论据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67312" y="42981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0E7FF"/>
                  </a:solidFill>
                  <a:latin typeface="Noto Sans CJK SC"/>
                  <a:ea typeface="Microsoft YaHei"/>
                  <a:cs typeface="Noto Sans CJK SC"/>
                </a:rPr>
                <a:t>页面消息与证据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38600" y="4933950"/>
              <a:ext cx="3733800" cy="400050"/>
            </a:xfrm>
            <a:prstGeom prst="roundRect">
              <a:avLst>
                <a:gd name="adj" fmla="val 28571"/>
              </a:avLst>
            </a:prstGeom>
            <a:solidFill>
              <a:srgbClr val="111827"/>
            </a:solidFill>
            <a:ln w="9525">
              <a:solidFill>
                <a:srgbClr val="47556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51960" y="5061585"/>
              <a:ext cx="29348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Noto Sans CJK SC"/>
                  <a:ea typeface="Microsoft YaHei"/>
                  <a:cs typeface="Noto Sans CJK SC"/>
                </a:rPr>
                <a:t>过时 / 证据不足的结论不能进入核心大纲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763000" y="1619250"/>
            <a:ext cx="2743200" cy="3714750"/>
            <a:chOff x="8763000" y="1619250"/>
            <a:chExt cx="2743200" cy="3714750"/>
          </a:xfrm>
        </p:grpSpPr>
        <p:sp>
          <p:nvSpPr>
            <p:cNvPr id="28" name="Rectangle 28"/>
            <p:cNvSpPr/>
            <p:nvPr/>
          </p:nvSpPr>
          <p:spPr>
            <a:xfrm>
              <a:off x="8763000" y="1619250"/>
              <a:ext cx="2743200" cy="3714750"/>
            </a:xfrm>
            <a:prstGeom prst="roundRect">
              <a:avLst>
                <a:gd name="adj" fmla="val 8333"/>
              </a:avLst>
            </a:prstGeom>
            <a:solidFill>
              <a:srgbClr val="0B1728"/>
            </a:solidFill>
            <a:ln w="19050">
              <a:solidFill>
                <a:srgbClr val="FB923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83040" y="19392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结构产物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05900" y="2552700"/>
              <a:ext cx="1885950" cy="495300"/>
            </a:xfrm>
            <a:prstGeom prst="roundRect">
              <a:avLst>
                <a:gd name="adj" fmla="val 26923"/>
              </a:avLst>
            </a:prstGeom>
            <a:solidFill>
              <a:srgbClr val="111827"/>
            </a:solidFill>
            <a:ln w="9525">
              <a:solidFill>
                <a:srgbClr val="FB923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99258" y="2729389"/>
              <a:ext cx="10270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ED7AA"/>
                  </a:solidFill>
                  <a:latin typeface="Noto Sans CJK SC"/>
                  <a:ea typeface="Microsoft YaHei"/>
                  <a:cs typeface="Noto Sans CJK SC"/>
                </a:rPr>
                <a:t>outline.json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105900" y="3314700"/>
              <a:ext cx="1885950" cy="495300"/>
            </a:xfrm>
            <a:prstGeom prst="roundRect">
              <a:avLst>
                <a:gd name="adj" fmla="val 26923"/>
              </a:avLst>
            </a:prstGeom>
            <a:solidFill>
              <a:srgbClr val="111827"/>
            </a:solidFill>
            <a:ln w="9525">
              <a:solidFill>
                <a:srgbClr val="FBBF2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99258" y="3491389"/>
              <a:ext cx="142655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EF3C7"/>
                  </a:solidFill>
                  <a:latin typeface="Noto Sans CJK SC"/>
                  <a:ea typeface="Microsoft YaHei"/>
                  <a:cs typeface="Noto Sans CJK SC"/>
                </a:rPr>
                <a:t>sticky_notes.md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05900" y="4076700"/>
              <a:ext cx="1885950" cy="495300"/>
            </a:xfrm>
            <a:prstGeom prst="roundRect">
              <a:avLst>
                <a:gd name="adj" fmla="val 26923"/>
              </a:avLst>
            </a:prstGeom>
            <a:solidFill>
              <a:srgbClr val="111827"/>
            </a:solidFill>
            <a:ln w="9525">
              <a:solidFill>
                <a:srgbClr val="86EFA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99258" y="4253389"/>
              <a:ext cx="11630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DCFCE7"/>
                  </a:solidFill>
                  <a:latin typeface="Noto Sans CJK SC"/>
                  <a:ea typeface="Microsoft YaHei"/>
                  <a:cs typeface="Noto Sans CJK SC"/>
                </a:rPr>
                <a:t>approval gate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91612" y="488870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1A7BD"/>
                  </a:solidFill>
                  <a:latin typeface="Noto Sans CJK SC"/>
                  <a:ea typeface="Microsoft YaHei"/>
                  <a:cs typeface="Noto Sans CJK SC"/>
                </a:rPr>
                <a:t>先审故事线，再进入视觉设计。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5829300"/>
            <a:ext cx="10820400" cy="514350"/>
            <a:chOff x="685800" y="5829300"/>
            <a:chExt cx="10820400" cy="514350"/>
          </a:xfrm>
        </p:grpSpPr>
        <p:sp>
          <p:nvSpPr>
            <p:cNvPr id="38" name="Rectangle 38"/>
            <p:cNvSpPr/>
            <p:nvPr/>
          </p:nvSpPr>
          <p:spPr>
            <a:xfrm>
              <a:off x="685800" y="5829300"/>
              <a:ext cx="10820400" cy="514350"/>
            </a:xfrm>
            <a:prstGeom prst="roundRect">
              <a:avLst>
                <a:gd name="adj" fmla="val 29630"/>
              </a:avLst>
            </a:prstGeom>
            <a:solidFill>
              <a:srgbClr val="07111F"/>
            </a:solidFill>
            <a:ln w="9525">
              <a:solidFill>
                <a:srgbClr val="2444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9650" y="6000750"/>
              <a:ext cx="60868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F2FE"/>
                  </a:solidFill>
                  <a:latin typeface="Noto Sans CJK SC"/>
                  <a:ea typeface="Microsoft YaHei"/>
                  <a:cs typeface="Noto Sans CJK SC"/>
                </a:rPr>
                <a:t>提示词重点不是“格式像 JSON”，而是让研究证据约束结构判断。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7700" y="660082"/>
            <a:ext cx="6797040" cy="902018"/>
            <a:chOff x="647700" y="660082"/>
            <a:chExt cx="6797040" cy="902018"/>
          </a:xfrm>
        </p:grpSpPr>
        <p:sp>
          <p:nvSpPr>
            <p:cNvPr id="3" name="TextBox 3"/>
            <p:cNvSpPr txBox="1"/>
            <p:nvPr/>
          </p:nvSpPr>
          <p:spPr>
            <a:xfrm>
              <a:off x="664845" y="660082"/>
              <a:ext cx="26525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FF4E8"/>
                  </a:solidFill>
                  <a:latin typeface="Noto Sans CJK SC"/>
                  <a:ea typeface="Microsoft YaHei"/>
                  <a:cs typeface="Noto Sans CJK SC"/>
                </a:rPr>
                <a:t>PLANNING BEFORE DESIGN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952500"/>
              <a:ext cx="679704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便利贴与策划稿：设计前先冻结意图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" y="1562100"/>
            <a:ext cx="4762500" cy="3905250"/>
            <a:chOff x="685800" y="1562100"/>
            <a:chExt cx="4762500" cy="3905250"/>
          </a:xfrm>
        </p:grpSpPr>
        <p:sp>
          <p:nvSpPr>
            <p:cNvPr id="6" name="Rectangle 6"/>
            <p:cNvSpPr/>
            <p:nvPr/>
          </p:nvSpPr>
          <p:spPr>
            <a:xfrm>
              <a:off x="685800" y="1562100"/>
              <a:ext cx="4762500" cy="3905250"/>
            </a:xfrm>
            <a:prstGeom prst="roundRect">
              <a:avLst>
                <a:gd name="adj" fmla="val 5854"/>
              </a:avLst>
            </a:prstGeom>
            <a:solidFill>
              <a:srgbClr val="0B1728"/>
            </a:solidFill>
            <a:ln w="19050">
              <a:solidFill>
                <a:srgbClr val="22D3E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4888" y="1854994"/>
              <a:ext cx="254168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Digital Sticky Notes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028700" y="2438400"/>
              <a:ext cx="1619250" cy="952500"/>
              <a:chOff x="1028700" y="2438400"/>
              <a:chExt cx="1619250" cy="952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028700" y="2438400"/>
                <a:ext cx="16192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102033"/>
              </a:solidFill>
              <a:ln w="9525">
                <a:solidFill>
                  <a:srgbClr val="5EEAD4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23962" y="2640806"/>
                <a:ext cx="3211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Role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21105" y="2902268"/>
                <a:ext cx="55410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cover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895600" y="2438400"/>
              <a:ext cx="2095500" cy="952500"/>
              <a:chOff x="2895600" y="2438400"/>
              <a:chExt cx="2095500" cy="952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2895600" y="2438400"/>
                <a:ext cx="20955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102033"/>
              </a:solidFill>
              <a:ln w="9525">
                <a:solidFill>
                  <a:srgbClr val="38BDF8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090862" y="2640806"/>
                <a:ext cx="63615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Message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88005" y="29022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一页一个观点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028700" y="3638550"/>
              <a:ext cx="1619250" cy="952500"/>
              <a:chOff x="1028700" y="3638550"/>
              <a:chExt cx="1619250" cy="952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28700" y="3638550"/>
                <a:ext cx="16192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102033"/>
              </a:solidFill>
              <a:ln w="9525">
                <a:solidFill>
                  <a:srgbClr val="A78BFA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3962" y="3840956"/>
                <a:ext cx="6511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Evidence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21105" y="41024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来源路径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895600" y="3638550"/>
              <a:ext cx="2095500" cy="952500"/>
              <a:chOff x="2895600" y="3638550"/>
              <a:chExt cx="2095500" cy="952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2895600" y="3638550"/>
                <a:ext cx="20955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102033"/>
              </a:solidFill>
              <a:ln w="9525">
                <a:solidFill>
                  <a:srgbClr val="FB923C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090862" y="3840956"/>
                <a:ext cx="95119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Visual intent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088005" y="41024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8FAFC"/>
                    </a:solidFill>
                    <a:latin typeface="Noto Sans CJK SC"/>
                    <a:ea typeface="Microsoft YaHei"/>
                    <a:cs typeface="Noto Sans CJK SC"/>
                  </a:rPr>
                  <a:t>先定表达方式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013460" y="4918710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1A7BD"/>
                  </a:solidFill>
                  <a:latin typeface="Noto Sans CJK SC"/>
                  <a:ea typeface="Microsoft YaHei"/>
                  <a:cs typeface="Noto Sans CJK SC"/>
                </a:rPr>
                <a:t>便签让顺序、消息和证据在设计前可被调整。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53100" y="1562100"/>
            <a:ext cx="5753100" cy="3905250"/>
            <a:chOff x="5753100" y="1562100"/>
            <a:chExt cx="5753100" cy="3905250"/>
          </a:xfrm>
        </p:grpSpPr>
        <p:sp>
          <p:nvSpPr>
            <p:cNvPr id="26" name="Rectangle 26"/>
            <p:cNvSpPr/>
            <p:nvPr/>
          </p:nvSpPr>
          <p:spPr>
            <a:xfrm>
              <a:off x="5753100" y="1562100"/>
              <a:ext cx="5753100" cy="3905250"/>
            </a:xfrm>
            <a:prstGeom prst="roundRect">
              <a:avLst>
                <a:gd name="adj" fmla="val 5854"/>
              </a:avLst>
            </a:prstGeom>
            <a:solidFill>
              <a:srgbClr val="101827"/>
            </a:solidFill>
            <a:ln w="19050">
              <a:solidFill>
                <a:srgbClr val="8B5CF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72188" y="1854994"/>
              <a:ext cx="252856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Page Planning Draft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0" y="2400300"/>
              <a:ext cx="2209800" cy="2247900"/>
            </a:xfrm>
            <a:prstGeom prst="roundRect">
              <a:avLst>
                <a:gd name="adj" fmla="val 6897"/>
              </a:avLst>
            </a:prstGeom>
            <a:solidFill>
              <a:srgbClr val="E5E7EB"/>
            </a:solidFill>
            <a:ln w="9525">
              <a:solidFill>
                <a:srgbClr val="94A3B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305550" y="2628900"/>
              <a:ext cx="1790700" cy="228600"/>
            </a:xfrm>
            <a:prstGeom prst="roundRect">
              <a:avLst>
                <a:gd name="adj" fmla="val 25000"/>
              </a:avLst>
            </a:prstGeom>
            <a:solidFill>
              <a:srgbClr val="CBD5E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305550" y="3067050"/>
              <a:ext cx="781050" cy="60960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77100" y="3067050"/>
              <a:ext cx="819150" cy="609600"/>
            </a:xfrm>
            <a:prstGeom prst="roundRect">
              <a:avLst>
                <a:gd name="adj" fmla="val 12500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305550" y="3867150"/>
              <a:ext cx="1790700" cy="495300"/>
            </a:xfrm>
            <a:prstGeom prst="roundRect">
              <a:avLst>
                <a:gd name="adj" fmla="val 15385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648700" y="2495550"/>
              <a:ext cx="2266950" cy="2114550"/>
              <a:chOff x="8648700" y="2495550"/>
              <a:chExt cx="2266950" cy="2114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648700" y="2495550"/>
                <a:ext cx="22669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111827"/>
              </a:solidFill>
              <a:ln w="9525">
                <a:solidFill>
                  <a:srgbClr val="64748B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843010" y="2623185"/>
                <a:ext cx="11826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2E8F0"/>
                    </a:solidFill>
                    <a:latin typeface="Noto Sans CJK SC"/>
                    <a:ea typeface="Microsoft YaHei"/>
                    <a:cs typeface="Noto Sans CJK SC"/>
                  </a:rPr>
                  <a:t>Content Blocks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8648700" y="3067050"/>
                <a:ext cx="22669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111827"/>
              </a:solidFill>
              <a:ln w="9525">
                <a:solidFill>
                  <a:srgbClr val="64748B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843010" y="3194685"/>
                <a:ext cx="13586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2E8F0"/>
                    </a:solidFill>
                    <a:latin typeface="Noto Sans CJK SC"/>
                    <a:ea typeface="Microsoft YaHei"/>
                    <a:cs typeface="Noto Sans CJK SC"/>
                  </a:rPr>
                  <a:t>Designer Handoff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8648700" y="3638550"/>
                <a:ext cx="22669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111827"/>
              </a:solidFill>
              <a:ln w="9525">
                <a:solidFill>
                  <a:srgbClr val="64748B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843010" y="3766185"/>
                <a:ext cx="14066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2E8F0"/>
                    </a:solidFill>
                    <a:latin typeface="Noto Sans CJK SC"/>
                    <a:ea typeface="Microsoft YaHei"/>
                    <a:cs typeface="Noto Sans CJK SC"/>
                  </a:rPr>
                  <a:t>Bento Layout Plan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8648700" y="4210050"/>
                <a:ext cx="22669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111827"/>
              </a:solidFill>
              <a:ln w="9525">
                <a:solidFill>
                  <a:srgbClr val="64748B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843010" y="4337685"/>
                <a:ext cx="12386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2E8F0"/>
                    </a:solidFill>
                    <a:latin typeface="Noto Sans CJK SC"/>
                    <a:ea typeface="Microsoft YaHei"/>
                    <a:cs typeface="Noto Sans CJK SC"/>
                  </a:rPr>
                  <a:t>Visual Direction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6080760" y="491871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1A7BD"/>
                  </a:solidFill>
                  <a:latin typeface="Noto Sans CJK SC"/>
                  <a:ea typeface="Microsoft YaHei"/>
                  <a:cs typeface="Noto Sans CJK SC"/>
                </a:rPr>
                <a:t>策划稿故意低装饰：它固定内容、版式和取舍。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5753100"/>
            <a:ext cx="10820400" cy="590550"/>
            <a:chOff x="685800" y="5753100"/>
            <a:chExt cx="10820400" cy="590550"/>
          </a:xfrm>
        </p:grpSpPr>
        <p:sp>
          <p:nvSpPr>
            <p:cNvPr id="44" name="Rectangle 44"/>
            <p:cNvSpPr/>
            <p:nvPr/>
          </p:nvSpPr>
          <p:spPr>
            <a:xfrm>
              <a:off x="685800" y="5753100"/>
              <a:ext cx="10820400" cy="590550"/>
            </a:xfrm>
            <a:prstGeom prst="roundRect">
              <a:avLst>
                <a:gd name="adj" fmla="val 29032"/>
              </a:avLst>
            </a:prstGeom>
            <a:solidFill>
              <a:srgbClr val="07111F"/>
            </a:solidFill>
            <a:ln w="9525">
              <a:solidFill>
                <a:srgbClr val="2444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8698" y="5954554"/>
              <a:ext cx="604938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0F2FE"/>
                  </a:solidFill>
                  <a:latin typeface="Noto Sans CJK SC"/>
                  <a:ea typeface="Microsoft YaHei"/>
                  <a:cs typeface="Noto Sans CJK SC"/>
                </a:rPr>
                <a:t>设计之前先冻结意图，重要 PPT 可以在策划稿阶段精调内容。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7700" y="660082"/>
            <a:ext cx="4906804" cy="902018"/>
            <a:chOff x="647700" y="660082"/>
            <a:chExt cx="4906804" cy="902018"/>
          </a:xfrm>
        </p:grpSpPr>
        <p:sp>
          <p:nvSpPr>
            <p:cNvPr id="3" name="TextBox 3"/>
            <p:cNvSpPr txBox="1"/>
            <p:nvPr/>
          </p:nvSpPr>
          <p:spPr>
            <a:xfrm>
              <a:off x="664845" y="660082"/>
              <a:ext cx="20749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FF4E8"/>
                  </a:solidFill>
                  <a:latin typeface="Noto Sans CJK SC"/>
                  <a:ea typeface="Microsoft YaHei"/>
                  <a:cs typeface="Noto Sans CJK SC"/>
                </a:rPr>
                <a:t>DESIGN AND EXPORT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952500"/>
              <a:ext cx="490680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Bento SVG 到可编辑 PPTX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1619250"/>
            <a:ext cx="3192541" cy="3733800"/>
            <a:chOff x="685800" y="1619250"/>
            <a:chExt cx="3192541" cy="3733800"/>
          </a:xfrm>
        </p:grpSpPr>
        <p:sp>
          <p:nvSpPr>
            <p:cNvPr id="6" name="Rectangle 6"/>
            <p:cNvSpPr/>
            <p:nvPr/>
          </p:nvSpPr>
          <p:spPr>
            <a:xfrm>
              <a:off x="685800" y="1619250"/>
              <a:ext cx="3143250" cy="3733800"/>
            </a:xfrm>
            <a:prstGeom prst="roundRect">
              <a:avLst>
                <a:gd name="adj" fmla="val 7273"/>
              </a:avLst>
            </a:prstGeom>
            <a:solidFill>
              <a:srgbClr val="0B1728"/>
            </a:solidFill>
            <a:ln w="19050">
              <a:solidFill>
                <a:srgbClr val="22D3E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4888" y="1931194"/>
              <a:ext cx="185910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SVG Primitives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28700" y="2533650"/>
              <a:ext cx="1047750" cy="666750"/>
            </a:xfrm>
            <a:prstGeom prst="roundRect">
              <a:avLst>
                <a:gd name="adj" fmla="val 20000"/>
              </a:avLst>
            </a:prstGeom>
            <a:solidFill>
              <a:srgbClr val="102033"/>
            </a:solidFill>
            <a:ln w="9525">
              <a:solidFill>
                <a:srgbClr val="2DD4BF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400300" y="2552700"/>
              <a:ext cx="647700" cy="647700"/>
            </a:xfrm>
            <a:prstGeom prst="ellipse">
              <a:avLst/>
            </a:prstGeom>
            <a:solidFill>
              <a:srgbClr val="0F766E"/>
            </a:solidFill>
            <a:ln w="19050">
              <a:solidFill>
                <a:srgbClr val="5EEAD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66800" y="3219450"/>
              <a:ext cx="2324100" cy="838200"/>
            </a:xfrm>
            <a:custGeom>
              <a:avLst/>
              <a:gdLst/>
              <a:ahLst/>
              <a:cxnLst/>
              <a:rect l="l" t="t" r="r" b="b"/>
              <a:pathLst>
                <a:path w="2324100" h="838200">
                  <a:moveTo>
                    <a:pt x="0" y="457200"/>
                  </a:moveTo>
                  <a:cubicBezTo>
                    <a:pt x="457200" y="76200"/>
                    <a:pt x="838200" y="838200"/>
                    <a:pt x="1314450" y="419100"/>
                  </a:cubicBezTo>
                  <a:cubicBezTo>
                    <a:pt x="1790700" y="0"/>
                    <a:pt x="1981200" y="190500"/>
                    <a:pt x="2324100" y="628650"/>
                  </a:cubicBezTo>
                </a:path>
              </a:pathLst>
            </a:custGeom>
            <a:noFill/>
            <a:ln w="47625" cap="rnd">
              <a:solidFill>
                <a:srgbClr val="38BDF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2508" y="4301014"/>
              <a:ext cx="26932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DBEAFE"/>
                  </a:solidFill>
                  <a:latin typeface="Noto Sans CJK SC"/>
                  <a:ea typeface="Microsoft YaHei"/>
                  <a:cs typeface="Noto Sans CJK SC"/>
                </a:rPr>
                <a:t>rect · text · line · path · group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4412" y="4793456"/>
              <a:ext cx="28639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1A7BD"/>
                  </a:solidFill>
                  <a:latin typeface="Noto Sans CJK SC"/>
                  <a:ea typeface="Microsoft YaHei"/>
                  <a:cs typeface="Noto Sans CJK SC"/>
                </a:rPr>
                <a:t>语义化 top-level g 作为选择和动画目标。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943350" y="2000250"/>
            <a:ext cx="4305300" cy="2971800"/>
            <a:chOff x="3943350" y="2000250"/>
            <a:chExt cx="4305300" cy="2971800"/>
          </a:xfrm>
        </p:grpSpPr>
        <p:sp>
          <p:nvSpPr>
            <p:cNvPr id="14" name="Rectangle 14"/>
            <p:cNvSpPr/>
            <p:nvPr/>
          </p:nvSpPr>
          <p:spPr>
            <a:xfrm>
              <a:off x="4514850" y="2000250"/>
              <a:ext cx="3162300" cy="2971800"/>
            </a:xfrm>
            <a:prstGeom prst="roundRect">
              <a:avLst>
                <a:gd name="adj" fmla="val 7692"/>
              </a:avLst>
            </a:prstGeom>
            <a:solidFill>
              <a:srgbClr val="0B1728"/>
            </a:solidFill>
            <a:ln w="19050">
              <a:solidFill>
                <a:srgbClr val="8B5CF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833938" y="2312194"/>
              <a:ext cx="222664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Native Converter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57750" y="2914650"/>
              <a:ext cx="2247900" cy="476250"/>
            </a:xfrm>
            <a:prstGeom prst="roundRect">
              <a:avLst>
                <a:gd name="adj" fmla="val 28000"/>
              </a:avLst>
            </a:prstGeom>
            <a:solidFill>
              <a:srgbClr val="111827"/>
            </a:solidFill>
            <a:ln w="9525">
              <a:solidFill>
                <a:srgbClr val="A78BF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51108" y="3081814"/>
              <a:ext cx="18941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9D5FF"/>
                  </a:solidFill>
                  <a:latin typeface="Noto Sans CJK SC"/>
                  <a:ea typeface="Microsoft YaHei"/>
                  <a:cs typeface="Noto Sans CJK SC"/>
                </a:rPr>
                <a:t>ppt_master_bridge.py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857750" y="3619500"/>
              <a:ext cx="2247900" cy="476250"/>
            </a:xfrm>
            <a:prstGeom prst="roundRect">
              <a:avLst>
                <a:gd name="adj" fmla="val 28000"/>
              </a:avLst>
            </a:prstGeom>
            <a:solidFill>
              <a:srgbClr val="111827"/>
            </a:solidFill>
            <a:ln w="9525">
              <a:solidFill>
                <a:srgbClr val="C4B5F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51108" y="3786664"/>
              <a:ext cx="15200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9D5FF"/>
                  </a:solidFill>
                  <a:latin typeface="Noto Sans CJK SC"/>
                  <a:ea typeface="Microsoft YaHei"/>
                  <a:cs typeface="Noto Sans CJK SC"/>
                </a:rPr>
                <a:t>assemble_pptx.py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3943350" y="348615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57200" y="0"/>
                  </a:lnTo>
                  <a:moveTo>
                    <a:pt x="3848100" y="0"/>
                  </a:moveTo>
                  <a:lnTo>
                    <a:pt x="430530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64748B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4248150" y="339090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15240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22" name="Polygon 22"/>
            <p:cNvSpPr/>
            <p:nvPr/>
          </p:nvSpPr>
          <p:spPr>
            <a:xfrm>
              <a:off x="8096250" y="339090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15240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362950" y="1619250"/>
            <a:ext cx="3143250" cy="3733800"/>
            <a:chOff x="8362950" y="1619250"/>
            <a:chExt cx="3143250" cy="3733800"/>
          </a:xfrm>
        </p:grpSpPr>
        <p:sp>
          <p:nvSpPr>
            <p:cNvPr id="24" name="Rectangle 24"/>
            <p:cNvSpPr/>
            <p:nvPr/>
          </p:nvSpPr>
          <p:spPr>
            <a:xfrm>
              <a:off x="8362950" y="1619250"/>
              <a:ext cx="3143250" cy="3733800"/>
            </a:xfrm>
            <a:prstGeom prst="roundRect">
              <a:avLst>
                <a:gd name="adj" fmla="val 7273"/>
              </a:avLst>
            </a:prstGeom>
            <a:solidFill>
              <a:srgbClr val="0B1728"/>
            </a:solidFill>
            <a:ln w="19050">
              <a:solidFill>
                <a:srgbClr val="FB923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82038" y="1931194"/>
              <a:ext cx="25548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PowerPoint Objects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05850" y="2552700"/>
              <a:ext cx="2095500" cy="419100"/>
            </a:xfrm>
            <a:prstGeom prst="roundRect">
              <a:avLst>
                <a:gd name="adj" fmla="val 27273"/>
              </a:avLst>
            </a:prstGeom>
            <a:solidFill>
              <a:srgbClr val="111827"/>
            </a:solidFill>
            <a:ln w="9525">
              <a:solidFill>
                <a:srgbClr val="FB923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00160" y="2689860"/>
              <a:ext cx="10546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ED7AA"/>
                  </a:solidFill>
                  <a:latin typeface="Noto Sans CJK SC"/>
                  <a:ea typeface="Microsoft YaHei"/>
                  <a:cs typeface="Noto Sans CJK SC"/>
                </a:rPr>
                <a:t>editable text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705850" y="3181350"/>
              <a:ext cx="2095500" cy="419100"/>
            </a:xfrm>
            <a:prstGeom prst="roundRect">
              <a:avLst>
                <a:gd name="adj" fmla="val 27273"/>
              </a:avLst>
            </a:prstGeom>
            <a:solidFill>
              <a:srgbClr val="111827"/>
            </a:solidFill>
            <a:ln w="9525">
              <a:solidFill>
                <a:srgbClr val="FBBF2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00160" y="3318510"/>
              <a:ext cx="10946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EF3C7"/>
                  </a:solidFill>
                  <a:latin typeface="Noto Sans CJK SC"/>
                  <a:ea typeface="Microsoft YaHei"/>
                  <a:cs typeface="Noto Sans CJK SC"/>
                </a:rPr>
                <a:t>native shapes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705850" y="3810000"/>
              <a:ext cx="2095500" cy="419100"/>
            </a:xfrm>
            <a:prstGeom prst="roundRect">
              <a:avLst>
                <a:gd name="adj" fmla="val 27273"/>
              </a:avLst>
            </a:prstGeom>
            <a:solidFill>
              <a:srgbClr val="111827"/>
            </a:solidFill>
            <a:ln w="9525">
              <a:solidFill>
                <a:srgbClr val="86EFA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00160" y="3947160"/>
              <a:ext cx="1182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FCE7"/>
                  </a:solidFill>
                  <a:latin typeface="Noto Sans CJK SC"/>
                  <a:ea typeface="Microsoft YaHei"/>
                  <a:cs typeface="Noto Sans CJK SC"/>
                </a:rPr>
                <a:t>groups / paths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05850" y="4438650"/>
              <a:ext cx="2095500" cy="419100"/>
            </a:xfrm>
            <a:prstGeom prst="roundRect">
              <a:avLst>
                <a:gd name="adj" fmla="val 27273"/>
              </a:avLst>
            </a:prstGeom>
            <a:solidFill>
              <a:srgbClr val="111827"/>
            </a:solidFill>
            <a:ln w="9525">
              <a:solidFill>
                <a:srgbClr val="67E8F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00160" y="4575810"/>
              <a:ext cx="6945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FFAFE"/>
                  </a:solidFill>
                  <a:latin typeface="Noto Sans CJK SC"/>
                  <a:ea typeface="Microsoft YaHei"/>
                  <a:cs typeface="Noto Sans CJK SC"/>
                </a:rPr>
                <a:t>pictures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5753100"/>
            <a:ext cx="10820400" cy="590550"/>
            <a:chOff x="685800" y="5753100"/>
            <a:chExt cx="10820400" cy="590550"/>
          </a:xfrm>
        </p:grpSpPr>
        <p:sp>
          <p:nvSpPr>
            <p:cNvPr id="35" name="Rectangle 35"/>
            <p:cNvSpPr/>
            <p:nvPr/>
          </p:nvSpPr>
          <p:spPr>
            <a:xfrm>
              <a:off x="685800" y="5753100"/>
              <a:ext cx="10820400" cy="590550"/>
            </a:xfrm>
            <a:prstGeom prst="roundRect">
              <a:avLst>
                <a:gd name="adj" fmla="val 29032"/>
              </a:avLst>
            </a:prstGeom>
            <a:solidFill>
              <a:srgbClr val="07111F"/>
            </a:solidFill>
            <a:ln w="9525">
              <a:solidFill>
                <a:srgbClr val="2444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8698" y="5954554"/>
              <a:ext cx="773641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0F2FE"/>
                  </a:solidFill>
                  <a:latin typeface="Noto Sans CJK SC"/>
                  <a:ea typeface="Microsoft YaHei"/>
                  <a:cs typeface="Noto Sans CJK SC"/>
                </a:rPr>
                <a:t>主产物是 editable deck；snapshot deck 只负责视觉对照，不代表编辑能力。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47700" y="660082"/>
            <a:ext cx="3016568" cy="902018"/>
            <a:chOff x="647700" y="660082"/>
            <a:chExt cx="3016568" cy="902018"/>
          </a:xfrm>
        </p:grpSpPr>
        <p:sp>
          <p:nvSpPr>
            <p:cNvPr id="3" name="TextBox 3"/>
            <p:cNvSpPr txBox="1"/>
            <p:nvPr/>
          </p:nvSpPr>
          <p:spPr>
            <a:xfrm>
              <a:off x="664845" y="660082"/>
              <a:ext cx="24677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FF4E8"/>
                  </a:solidFill>
                  <a:latin typeface="Noto Sans CJK SC"/>
                  <a:ea typeface="Microsoft YaHei"/>
                  <a:cs typeface="Noto Sans CJK SC"/>
                </a:rPr>
                <a:t>USAGE AND ACCEPTANCE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47700" y="952500"/>
              <a:ext cx="301656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如何使用与验收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1619250"/>
            <a:ext cx="3333750" cy="3733800"/>
            <a:chOff x="685800" y="1619250"/>
            <a:chExt cx="3333750" cy="3733800"/>
          </a:xfrm>
        </p:grpSpPr>
        <p:sp>
          <p:nvSpPr>
            <p:cNvPr id="6" name="Rectangle 6"/>
            <p:cNvSpPr/>
            <p:nvPr/>
          </p:nvSpPr>
          <p:spPr>
            <a:xfrm>
              <a:off x="685800" y="1619250"/>
              <a:ext cx="3333750" cy="3733800"/>
            </a:xfrm>
            <a:prstGeom prst="roundRect">
              <a:avLst>
                <a:gd name="adj" fmla="val 6857"/>
              </a:avLst>
            </a:prstGeom>
            <a:solidFill>
              <a:srgbClr val="0B1728"/>
            </a:solidFill>
            <a:ln w="19050">
              <a:solidFill>
                <a:srgbClr val="22D3E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5840" y="1939290"/>
              <a:ext cx="186034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Project Layout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4412" y="2450306"/>
              <a:ext cx="13412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Noto Sans Mono CJK SC"/>
                  <a:ea typeface="Microsoft YaHei"/>
                  <a:cs typeface="Noto Sans Mono CJK SC"/>
                </a:rPr>
                <a:t>source_digest.md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4412" y="275510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Noto Sans Mono CJK SC"/>
                  <a:ea typeface="Microsoft YaHei"/>
                  <a:cs typeface="Noto Sans Mono CJK SC"/>
                </a:rPr>
                <a:t>requirements.md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4412" y="3059906"/>
              <a:ext cx="9661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Noto Sans Mono CJK SC"/>
                  <a:ea typeface="Microsoft YaHei"/>
                  <a:cs typeface="Noto Sans Mono CJK SC"/>
                </a:rPr>
                <a:t>research.md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4412" y="3364706"/>
              <a:ext cx="9061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Noto Sans Mono CJK SC"/>
                  <a:ea typeface="Microsoft YaHei"/>
                  <a:cs typeface="Noto Sans Mono CJK SC"/>
                </a:rPr>
                <a:t>outline.json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4412" y="3669506"/>
              <a:ext cx="12587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Noto Sans Mono CJK SC"/>
                  <a:ea typeface="Microsoft YaHei"/>
                  <a:cs typeface="Noto Sans Mono CJK SC"/>
                </a:rPr>
                <a:t>sticky_notes.md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4412" y="3974306"/>
              <a:ext cx="8986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Noto Sans Mono CJK SC"/>
                  <a:ea typeface="Microsoft YaHei"/>
                  <a:cs typeface="Noto Sans Mono CJK SC"/>
                </a:rPr>
                <a:t>page_plans/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4412" y="4279106"/>
              <a:ext cx="18438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Noto Sans Mono CJK SC"/>
                  <a:ea typeface="Microsoft YaHei"/>
                  <a:cs typeface="Noto Sans Mono CJK SC"/>
                </a:rPr>
                <a:t>svg/ previews/ exports/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14412" y="479345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1A7BD"/>
                  </a:solidFill>
                  <a:latin typeface="Noto Sans CJK SC"/>
                  <a:ea typeface="Microsoft YaHei"/>
                  <a:cs typeface="Noto Sans CJK SC"/>
                </a:rPr>
                <a:t>目录即证据链；缺文件就不算完成。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24350" y="1619250"/>
            <a:ext cx="4095750" cy="3733800"/>
            <a:chOff x="4324350" y="1619250"/>
            <a:chExt cx="4095750" cy="3733800"/>
          </a:xfrm>
        </p:grpSpPr>
        <p:sp>
          <p:nvSpPr>
            <p:cNvPr id="17" name="Rectangle 17"/>
            <p:cNvSpPr/>
            <p:nvPr/>
          </p:nvSpPr>
          <p:spPr>
            <a:xfrm>
              <a:off x="4324350" y="1619250"/>
              <a:ext cx="4095750" cy="3733800"/>
            </a:xfrm>
            <a:prstGeom prst="roundRect">
              <a:avLst>
                <a:gd name="adj" fmla="val 6122"/>
              </a:avLst>
            </a:prstGeom>
            <a:solidFill>
              <a:srgbClr val="0B1728"/>
            </a:solidFill>
            <a:ln w="19050">
              <a:solidFill>
                <a:srgbClr val="8B5CF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44390" y="1939290"/>
              <a:ext cx="26542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Three Command Gates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667250" y="2476500"/>
              <a:ext cx="3143250" cy="552450"/>
            </a:xfrm>
            <a:prstGeom prst="roundRect">
              <a:avLst>
                <a:gd name="adj" fmla="val 24138"/>
              </a:avLst>
            </a:prstGeom>
            <a:solidFill>
              <a:srgbClr val="111827"/>
            </a:solidFill>
            <a:ln w="9525">
              <a:solidFill>
                <a:srgbClr val="47556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63465" y="26870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BEAFE"/>
                  </a:solidFill>
                  <a:latin typeface="Noto Sans Mono CJK SC"/>
                  <a:ea typeface="Microsoft YaHei"/>
                  <a:cs typeface="Noto Sans Mono CJK SC"/>
                </a:rPr>
                <a:t>validate_svg --native-editable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667250" y="3314700"/>
              <a:ext cx="3143250" cy="552450"/>
            </a:xfrm>
            <a:prstGeom prst="roundRect">
              <a:avLst>
                <a:gd name="adj" fmla="val 24138"/>
              </a:avLst>
            </a:prstGeom>
            <a:solidFill>
              <a:srgbClr val="111827"/>
            </a:solidFill>
            <a:ln w="9525">
              <a:solidFill>
                <a:srgbClr val="47556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63465" y="3525202"/>
              <a:ext cx="21829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BEAFE"/>
                  </a:solidFill>
                  <a:latin typeface="Noto Sans Mono CJK SC"/>
                  <a:ea typeface="Microsoft YaHei"/>
                  <a:cs typeface="Noto Sans Mono CJK SC"/>
                </a:rPr>
                <a:t>assemble_pptx svg exports/...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667250" y="4152900"/>
              <a:ext cx="3143250" cy="552450"/>
            </a:xfrm>
            <a:prstGeom prst="roundRect">
              <a:avLst>
                <a:gd name="adj" fmla="val 24138"/>
              </a:avLst>
            </a:prstGeom>
            <a:solidFill>
              <a:srgbClr val="111827"/>
            </a:solidFill>
            <a:ln w="9525">
              <a:solidFill>
                <a:srgbClr val="47556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63465" y="43634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BEAFE"/>
                  </a:solidFill>
                  <a:latin typeface="Noto Sans Mono CJK SC"/>
                  <a:ea typeface="Microsoft YaHei"/>
                  <a:cs typeface="Noto Sans Mono CJK SC"/>
                </a:rPr>
                <a:t>inspect_pptx --require-native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52962" y="49077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1A7BD"/>
                  </a:solidFill>
                  <a:latin typeface="Noto Sans CJK SC"/>
                  <a:ea typeface="Microsoft YaHei"/>
                  <a:cs typeface="Noto Sans CJK SC"/>
                </a:rPr>
                <a:t>验证通过后才输出最终答复。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724900" y="1619250"/>
            <a:ext cx="2781300" cy="3733800"/>
            <a:chOff x="8724900" y="1619250"/>
            <a:chExt cx="2781300" cy="3733800"/>
          </a:xfrm>
        </p:grpSpPr>
        <p:sp>
          <p:nvSpPr>
            <p:cNvPr id="27" name="Rectangle 27"/>
            <p:cNvSpPr/>
            <p:nvPr/>
          </p:nvSpPr>
          <p:spPr>
            <a:xfrm>
              <a:off x="8724900" y="1619250"/>
              <a:ext cx="2781300" cy="3733800"/>
            </a:xfrm>
            <a:prstGeom prst="roundRect">
              <a:avLst>
                <a:gd name="adj" fmla="val 8219"/>
              </a:avLst>
            </a:prstGeom>
            <a:solidFill>
              <a:srgbClr val="0B1728"/>
            </a:solidFill>
            <a:ln w="19050">
              <a:solidFill>
                <a:srgbClr val="FB923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44940" y="1939290"/>
              <a:ext cx="106644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8FAFC"/>
                  </a:solidFill>
                  <a:latin typeface="Noto Sans CJK SC"/>
                  <a:ea typeface="Microsoft YaHei"/>
                  <a:cs typeface="Noto Sans CJK SC"/>
                </a:rPr>
                <a:t>Outputs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067800" y="2552700"/>
              <a:ext cx="1943100" cy="552450"/>
            </a:xfrm>
            <a:prstGeom prst="roundRect">
              <a:avLst>
                <a:gd name="adj" fmla="val 24138"/>
              </a:avLst>
            </a:prstGeom>
            <a:solidFill>
              <a:srgbClr val="111827"/>
            </a:solidFill>
            <a:ln w="9525">
              <a:solidFill>
                <a:srgbClr val="FB923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61158" y="2748439"/>
              <a:ext cx="16305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ED7AA"/>
                  </a:solidFill>
                  <a:latin typeface="Noto Sans CJK SC"/>
                  <a:ea typeface="Microsoft YaHei"/>
                  <a:cs typeface="Noto Sans CJK SC"/>
                </a:rPr>
                <a:t>deck_editable.pptx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067800" y="3352800"/>
              <a:ext cx="1943100" cy="552450"/>
            </a:xfrm>
            <a:prstGeom prst="roundRect">
              <a:avLst>
                <a:gd name="adj" fmla="val 24138"/>
              </a:avLst>
            </a:prstGeom>
            <a:solidFill>
              <a:srgbClr val="111827"/>
            </a:solidFill>
            <a:ln w="9525">
              <a:solidFill>
                <a:srgbClr val="38BDF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61158" y="3548539"/>
              <a:ext cx="17155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CFFAFE"/>
                  </a:solidFill>
                  <a:latin typeface="Noto Sans CJK SC"/>
                  <a:ea typeface="Microsoft YaHei"/>
                  <a:cs typeface="Noto Sans CJK SC"/>
                </a:rPr>
                <a:t>deck_snapshot.pptx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9144000" y="4305300"/>
              <a:ext cx="1819274" cy="621506"/>
              <a:chOff x="9144000" y="4305300"/>
              <a:chExt cx="1819274" cy="621506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9144000" y="4305300"/>
                <a:ext cx="190500" cy="1905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434512" y="43362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expected slide count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9144000" y="4667250"/>
                <a:ext cx="190500" cy="1905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434512" y="4698206"/>
                <a:ext cx="10712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BEAFE"/>
                    </a:solidFill>
                    <a:latin typeface="Noto Sans CJK SC"/>
                    <a:ea typeface="Microsoft YaHei"/>
                    <a:cs typeface="Noto Sans CJK SC"/>
                  </a:rPr>
                  <a:t>native objects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685800" y="5753100"/>
            <a:ext cx="10820400" cy="590550"/>
            <a:chOff x="685800" y="5753100"/>
            <a:chExt cx="10820400" cy="590550"/>
          </a:xfrm>
        </p:grpSpPr>
        <p:sp>
          <p:nvSpPr>
            <p:cNvPr id="39" name="Rectangle 39"/>
            <p:cNvSpPr/>
            <p:nvPr/>
          </p:nvSpPr>
          <p:spPr>
            <a:xfrm>
              <a:off x="685800" y="5753100"/>
              <a:ext cx="10820400" cy="590550"/>
            </a:xfrm>
            <a:prstGeom prst="roundRect">
              <a:avLst>
                <a:gd name="adj" fmla="val 29032"/>
              </a:avLst>
            </a:prstGeom>
            <a:solidFill>
              <a:srgbClr val="07111F"/>
            </a:solidFill>
            <a:ln w="9525">
              <a:solidFill>
                <a:srgbClr val="2444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08698" y="5954554"/>
              <a:ext cx="749383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E0F2FE"/>
                  </a:solidFill>
                  <a:latin typeface="Noto Sans CJK SC"/>
                  <a:ea typeface="Microsoft YaHei"/>
                  <a:cs typeface="Noto Sans CJK SC"/>
                </a:rPr>
                <a:t>完成标准：内容证据齐、SVG 可渲染、native 转换通过、PPTX 可人为编辑。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codex-bento-ppt 思路剖析与工作流实现</dc:title>
  <dc:subject/>
  <dc:creator/>
  <cp:keywords/>
  <dc:description>generated using python-pptx</dc:description>
  <cp:lastModifiedBy>Steve Canny</cp:lastModifiedBy>
  <cp:revision>1</cp:revision>
  <ns2:created xsi:type="dcterms:W3CDTF">2013-01-27T09:14:16Z</ns2:created>
  <ns2:modified xsi:type="dcterms:W3CDTF">2013-01-27T09:15:58Z</ns2:modified>
  <cp:category/>
</cp:coreProperties>
</file>